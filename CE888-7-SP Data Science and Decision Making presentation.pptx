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2" r:id="rId1"/>
  </p:sldMasterIdLst>
  <p:sldIdLst>
    <p:sldId id="256" r:id="rId2"/>
    <p:sldId id="258" r:id="rId3"/>
    <p:sldId id="257" r:id="rId4"/>
    <p:sldId id="259" r:id="rId5"/>
    <p:sldId id="260" r:id="rId6"/>
    <p:sldId id="261" r:id="rId7"/>
    <p:sldId id="265" r:id="rId8"/>
    <p:sldId id="262" r:id="rId9"/>
    <p:sldId id="263" r:id="rId10"/>
    <p:sldId id="264"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5" d="100"/>
          <a:sy n="105" d="100"/>
        </p:scale>
        <p:origin x="1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3304562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2043793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70917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4217DE-55E7-4ED6-8837-126BC3ABCC9A}" type="datetimeFigureOut">
              <a:rPr lang="en-GB" smtClean="0"/>
              <a:t>21/04/2024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257136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4217DE-55E7-4ED6-8837-126BC3ABCC9A}" type="datetimeFigureOut">
              <a:rPr lang="en-GB" smtClean="0"/>
              <a:t>21/04/2024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3819859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4217DE-55E7-4ED6-8837-126BC3ABCC9A}" type="datetimeFigureOut">
              <a:rPr lang="en-GB" smtClean="0"/>
              <a:t>21/04/2024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3818149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4217DE-55E7-4ED6-8837-126BC3ABCC9A}" type="datetimeFigureOut">
              <a:rPr lang="en-GB" smtClean="0"/>
              <a:t>21/04/2024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4061213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4217DE-55E7-4ED6-8837-126BC3ABCC9A}" type="datetimeFigureOut">
              <a:rPr lang="en-GB" smtClean="0"/>
              <a:t>21/04/2024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166297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8A9FEA-809B-4548-889D-AC714DA258DE}" type="slidenum">
              <a:rPr lang="en-GB" smtClean="0"/>
              <a:t>‹#›</a:t>
            </a:fld>
            <a:endParaRPr lang="en-GB"/>
          </a:p>
        </p:txBody>
      </p:sp>
      <p:sp>
        <p:nvSpPr>
          <p:cNvPr id="5" name="Date Placeholder 4"/>
          <p:cNvSpPr>
            <a:spLocks noGrp="1"/>
          </p:cNvSpPr>
          <p:nvPr>
            <p:ph type="dt" sz="half" idx="10"/>
          </p:nvPr>
        </p:nvSpPr>
        <p:spPr/>
        <p:txBody>
          <a:bodyPr/>
          <a:lstStyle/>
          <a:p>
            <a:fld id="{314217DE-55E7-4ED6-8837-126BC3ABCC9A}" type="datetimeFigureOut">
              <a:rPr lang="en-GB" smtClean="0"/>
              <a:t>21/04/2024</a:t>
            </a:fld>
            <a:endParaRPr lang="en-GB"/>
          </a:p>
        </p:txBody>
      </p:sp>
    </p:spTree>
    <p:extLst>
      <p:ext uri="{BB962C8B-B14F-4D97-AF65-F5344CB8AC3E}">
        <p14:creationId xmlns:p14="http://schemas.microsoft.com/office/powerpoint/2010/main" val="2516253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961455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92121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3432006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07860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40751303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3464533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4217DE-55E7-4ED6-8837-126BC3ABCC9A}" type="datetimeFigureOut">
              <a:rPr lang="en-GB" smtClean="0"/>
              <a:t>21/04/2024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8A9FEA-809B-4548-889D-AC714DA258DE}" type="slidenum">
              <a:rPr lang="en-GB" smtClean="0"/>
              <a:t>‹#›</a:t>
            </a:fld>
            <a:endParaRPr lang="en-GB"/>
          </a:p>
        </p:txBody>
      </p:sp>
    </p:spTree>
    <p:extLst>
      <p:ext uri="{BB962C8B-B14F-4D97-AF65-F5344CB8AC3E}">
        <p14:creationId xmlns:p14="http://schemas.microsoft.com/office/powerpoint/2010/main" val="955450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14217DE-55E7-4ED6-8837-126BC3ABCC9A}" type="datetimeFigureOut">
              <a:rPr lang="en-GB" smtClean="0"/>
              <a:t>21/04/2024</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78A9FEA-809B-4548-889D-AC714DA258DE}" type="slidenum">
              <a:rPr lang="en-GB" smtClean="0"/>
              <a:t>‹#›</a:t>
            </a:fld>
            <a:endParaRPr lang="en-GB"/>
          </a:p>
        </p:txBody>
      </p:sp>
    </p:spTree>
    <p:extLst>
      <p:ext uri="{BB962C8B-B14F-4D97-AF65-F5344CB8AC3E}">
        <p14:creationId xmlns:p14="http://schemas.microsoft.com/office/powerpoint/2010/main" val="2045754692"/>
      </p:ext>
    </p:extLst>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tekhdecoded.com/solar-cells-just-got-better-efficiency-has-been-improved-by-almost-30/" TargetMode="External"/><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hyperlink" Target="https://creativecommons.org/licenses/by-nc-sa/3.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013EF-FC60-34BE-A3E5-FD8FB01721B1}"/>
              </a:ext>
            </a:extLst>
          </p:cNvPr>
          <p:cNvSpPr>
            <a:spLocks noGrp="1"/>
          </p:cNvSpPr>
          <p:nvPr>
            <p:ph type="ctrTitle"/>
          </p:nvPr>
        </p:nvSpPr>
        <p:spPr>
          <a:xfrm>
            <a:off x="1507067" y="896645"/>
            <a:ext cx="7766936" cy="2532355"/>
          </a:xfrm>
        </p:spPr>
        <p:txBody>
          <a:bodyPr>
            <a:normAutofit fontScale="90000"/>
          </a:bodyPr>
          <a:lstStyle/>
          <a:p>
            <a:pPr algn="ctr"/>
            <a:r>
              <a:rPr lang="en-GB" b="1" u="sng" dirty="0">
                <a:solidFill>
                  <a:schemeClr val="accent2">
                    <a:lumMod val="75000"/>
                  </a:schemeClr>
                </a:solidFill>
              </a:rPr>
              <a:t>CE888-7-SP Data Science and Decision Making project</a:t>
            </a:r>
          </a:p>
        </p:txBody>
      </p:sp>
      <p:sp>
        <p:nvSpPr>
          <p:cNvPr id="3" name="Subtitle 2">
            <a:extLst>
              <a:ext uri="{FF2B5EF4-FFF2-40B4-BE49-F238E27FC236}">
                <a16:creationId xmlns:a16="http://schemas.microsoft.com/office/drawing/2014/main" id="{F6258C2F-1470-EEAC-A5CB-DC610A4A2E25}"/>
              </a:ext>
            </a:extLst>
          </p:cNvPr>
          <p:cNvSpPr>
            <a:spLocks noGrp="1"/>
          </p:cNvSpPr>
          <p:nvPr>
            <p:ph type="subTitle" idx="1"/>
          </p:nvPr>
        </p:nvSpPr>
        <p:spPr/>
        <p:txBody>
          <a:bodyPr>
            <a:normAutofit/>
          </a:bodyPr>
          <a:lstStyle/>
          <a:p>
            <a:pPr algn="ctr"/>
            <a:r>
              <a:rPr lang="en-GB" sz="3600" dirty="0"/>
              <a:t>  registration number :2323135</a:t>
            </a:r>
          </a:p>
          <a:p>
            <a:endParaRPr lang="en-GB" b="1" dirty="0"/>
          </a:p>
          <a:p>
            <a:endParaRPr lang="en-GB" b="1" dirty="0"/>
          </a:p>
          <a:p>
            <a:endParaRPr lang="en-GB" b="1" dirty="0"/>
          </a:p>
          <a:p>
            <a:endParaRPr lang="en-GB" b="1" dirty="0"/>
          </a:p>
          <a:p>
            <a:endParaRPr lang="en-GB" b="1" dirty="0"/>
          </a:p>
        </p:txBody>
      </p:sp>
    </p:spTree>
    <p:extLst>
      <p:ext uri="{BB962C8B-B14F-4D97-AF65-F5344CB8AC3E}">
        <p14:creationId xmlns:p14="http://schemas.microsoft.com/office/powerpoint/2010/main" val="4189534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30936-06AD-DCF1-A569-3FE13AB58BD9}"/>
              </a:ext>
            </a:extLst>
          </p:cNvPr>
          <p:cNvSpPr>
            <a:spLocks noGrp="1"/>
          </p:cNvSpPr>
          <p:nvPr>
            <p:ph type="ctrTitle"/>
          </p:nvPr>
        </p:nvSpPr>
        <p:spPr/>
        <p:txBody>
          <a:bodyPr>
            <a:normAutofit fontScale="90000"/>
          </a:bodyPr>
          <a:lstStyle/>
          <a:p>
            <a:pPr algn="l"/>
            <a:r>
              <a:rPr lang="en-GB" sz="3200" dirty="0"/>
              <a:t>The project is about giving local people access to free energy when there will be surplus in energy ( either wind or solar energy)</a:t>
            </a:r>
            <a:br>
              <a:rPr lang="en-GB" sz="3200" dirty="0"/>
            </a:br>
            <a:br>
              <a:rPr lang="en-GB" sz="3200" dirty="0"/>
            </a:br>
            <a:endParaRPr lang="en-GB" sz="3200" dirty="0"/>
          </a:p>
        </p:txBody>
      </p:sp>
      <p:sp>
        <p:nvSpPr>
          <p:cNvPr id="3" name="Subtitle 2">
            <a:extLst>
              <a:ext uri="{FF2B5EF4-FFF2-40B4-BE49-F238E27FC236}">
                <a16:creationId xmlns:a16="http://schemas.microsoft.com/office/drawing/2014/main" id="{DB34C5C7-D391-B00F-BDFD-AA31816DBC0E}"/>
              </a:ext>
            </a:extLst>
          </p:cNvPr>
          <p:cNvSpPr>
            <a:spLocks noGrp="1"/>
          </p:cNvSpPr>
          <p:nvPr>
            <p:ph type="subTitle" idx="1"/>
          </p:nvPr>
        </p:nvSpPr>
        <p:spPr/>
        <p:txBody>
          <a:bodyPr>
            <a:normAutofit fontScale="85000" lnSpcReduction="20000"/>
          </a:bodyPr>
          <a:lstStyle/>
          <a:p>
            <a:pPr algn="l"/>
            <a:r>
              <a:rPr lang="en-GB" sz="3200" kern="100" dirty="0">
                <a:effectLst/>
                <a:latin typeface="Aptos" panose="020B0004020202020204" pitchFamily="34" charset="0"/>
                <a:ea typeface="Aptos" panose="020B0004020202020204" pitchFamily="34" charset="0"/>
                <a:cs typeface="Times New Roman" panose="02020603050405020304" pitchFamily="18" charset="0"/>
              </a:rPr>
              <a:t>To do this, I will develop a system which can predict the surplus of energy enabling me checking the feasibility of this plan.</a:t>
            </a:r>
          </a:p>
          <a:p>
            <a:endParaRPr lang="en-GB" dirty="0"/>
          </a:p>
        </p:txBody>
      </p:sp>
    </p:spTree>
    <p:extLst>
      <p:ext uri="{BB962C8B-B14F-4D97-AF65-F5344CB8AC3E}">
        <p14:creationId xmlns:p14="http://schemas.microsoft.com/office/powerpoint/2010/main" val="3722573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70A56-ACE4-C4C3-AAC0-26D9FD421154}"/>
              </a:ext>
            </a:extLst>
          </p:cNvPr>
          <p:cNvSpPr>
            <a:spLocks noGrp="1"/>
          </p:cNvSpPr>
          <p:nvPr>
            <p:ph type="ctrTitle"/>
          </p:nvPr>
        </p:nvSpPr>
        <p:spPr>
          <a:xfrm>
            <a:off x="1588008" y="1105272"/>
            <a:ext cx="9144000" cy="1655762"/>
          </a:xfrm>
        </p:spPr>
        <p:txBody>
          <a:bodyPr>
            <a:normAutofit fontScale="90000"/>
          </a:bodyPr>
          <a:lstStyle/>
          <a:p>
            <a:pPr algn="l"/>
            <a:r>
              <a:rPr lang="en-GB" sz="2400" dirty="0">
                <a:solidFill>
                  <a:schemeClr val="accent2">
                    <a:lumMod val="75000"/>
                  </a:schemeClr>
                </a:solidFill>
              </a:rPr>
              <a:t>What is the aim of the project?</a:t>
            </a:r>
            <a:br>
              <a:rPr lang="en-GB" sz="2400" dirty="0">
                <a:solidFill>
                  <a:schemeClr val="accent2">
                    <a:lumMod val="75000"/>
                  </a:schemeClr>
                </a:solidFill>
              </a:rPr>
            </a:br>
            <a:r>
              <a:rPr lang="en-GB" sz="2400" dirty="0"/>
              <a:t>The aim of this project is to predict 24 hours in advance if there will be surplus energy.</a:t>
            </a:r>
            <a:br>
              <a:rPr lang="en-GB" sz="2400" dirty="0"/>
            </a:br>
            <a:r>
              <a:rPr lang="en-GB" sz="2400" dirty="0">
                <a:solidFill>
                  <a:schemeClr val="accent2">
                    <a:lumMod val="75000"/>
                  </a:schemeClr>
                </a:solidFill>
              </a:rPr>
              <a:t>Why?</a:t>
            </a:r>
            <a:r>
              <a:rPr lang="en-GB" sz="2400" dirty="0"/>
              <a:t> To  send out an alert to the customers in the area to allow them to opt-in to the slot.</a:t>
            </a:r>
            <a:br>
              <a:rPr lang="en-GB" sz="2400" dirty="0"/>
            </a:br>
            <a:endParaRPr lang="en-GB" sz="2400" dirty="0"/>
          </a:p>
        </p:txBody>
      </p:sp>
      <p:sp>
        <p:nvSpPr>
          <p:cNvPr id="3" name="Subtitle 2">
            <a:extLst>
              <a:ext uri="{FF2B5EF4-FFF2-40B4-BE49-F238E27FC236}">
                <a16:creationId xmlns:a16="http://schemas.microsoft.com/office/drawing/2014/main" id="{A3B9F6E5-E11F-0B80-8EC4-E537FA61B1A9}"/>
              </a:ext>
            </a:extLst>
          </p:cNvPr>
          <p:cNvSpPr>
            <a:spLocks noGrp="1"/>
          </p:cNvSpPr>
          <p:nvPr>
            <p:ph type="subTitle" idx="1"/>
          </p:nvPr>
        </p:nvSpPr>
        <p:spPr>
          <a:xfrm>
            <a:off x="1524000" y="3098308"/>
            <a:ext cx="9144000" cy="1766656"/>
          </a:xfrm>
        </p:spPr>
        <p:txBody>
          <a:bodyPr>
            <a:noAutofit/>
          </a:bodyPr>
          <a:lstStyle/>
          <a:p>
            <a:pPr algn="l"/>
            <a:r>
              <a:rPr lang="en-GB" dirty="0">
                <a:solidFill>
                  <a:schemeClr val="tx1"/>
                </a:solidFill>
              </a:rPr>
              <a:t>What am I doing?</a:t>
            </a:r>
          </a:p>
          <a:p>
            <a:pPr algn="l"/>
            <a:r>
              <a:rPr lang="en-GB" dirty="0"/>
              <a:t>What I am doing is taking the data set that was given to me by the company.</a:t>
            </a:r>
          </a:p>
          <a:p>
            <a:pPr algn="l"/>
            <a:r>
              <a:rPr lang="en-GB" dirty="0">
                <a:solidFill>
                  <a:schemeClr val="tx1"/>
                </a:solidFill>
              </a:rPr>
              <a:t>What is the data set?</a:t>
            </a:r>
          </a:p>
          <a:p>
            <a:pPr algn="l"/>
            <a:r>
              <a:rPr lang="en-GB" dirty="0"/>
              <a:t> It is historic records in the area from 2010 until now for Briton city.</a:t>
            </a:r>
          </a:p>
          <a:p>
            <a:pPr algn="l"/>
            <a:r>
              <a:rPr lang="en-GB" dirty="0">
                <a:solidFill>
                  <a:schemeClr val="tx1"/>
                </a:solidFill>
              </a:rPr>
              <a:t>What type of energy was chosen?</a:t>
            </a:r>
          </a:p>
          <a:p>
            <a:pPr algn="l"/>
            <a:r>
              <a:rPr lang="en-GB" dirty="0" err="1"/>
              <a:t>Solarradation</a:t>
            </a:r>
            <a:r>
              <a:rPr lang="en-GB" dirty="0"/>
              <a:t> energy.</a:t>
            </a:r>
          </a:p>
          <a:p>
            <a:endParaRPr lang="en-GB" dirty="0"/>
          </a:p>
        </p:txBody>
      </p:sp>
      <p:pic>
        <p:nvPicPr>
          <p:cNvPr id="8" name="Picture 7" descr="Solar panels on a dock&#10;&#10;Description automatically generated">
            <a:extLst>
              <a:ext uri="{FF2B5EF4-FFF2-40B4-BE49-F238E27FC236}">
                <a16:creationId xmlns:a16="http://schemas.microsoft.com/office/drawing/2014/main" id="{31171DD7-E28A-C3BE-F5D2-3AF931E2A9EB}"/>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26088" y="4681729"/>
            <a:ext cx="5913639" cy="1881790"/>
          </a:xfrm>
          <a:prstGeom prst="rect">
            <a:avLst/>
          </a:prstGeom>
        </p:spPr>
      </p:pic>
      <p:sp>
        <p:nvSpPr>
          <p:cNvPr id="9" name="TextBox 8">
            <a:extLst>
              <a:ext uri="{FF2B5EF4-FFF2-40B4-BE49-F238E27FC236}">
                <a16:creationId xmlns:a16="http://schemas.microsoft.com/office/drawing/2014/main" id="{BFB75FF1-7A3C-3541-C45C-24A8CF95345E}"/>
              </a:ext>
            </a:extLst>
          </p:cNvPr>
          <p:cNvSpPr txBox="1"/>
          <p:nvPr/>
        </p:nvSpPr>
        <p:spPr>
          <a:xfrm>
            <a:off x="953504" y="6858000"/>
            <a:ext cx="10284991" cy="230832"/>
          </a:xfrm>
          <a:prstGeom prst="rect">
            <a:avLst/>
          </a:prstGeom>
          <a:noFill/>
        </p:spPr>
        <p:txBody>
          <a:bodyPr wrap="square" rtlCol="0">
            <a:spAutoFit/>
          </a:bodyPr>
          <a:lstStyle/>
          <a:p>
            <a:r>
              <a:rPr lang="en-GB" sz="900">
                <a:hlinkClick r:id="rId3" tooltip="https://tekhdecoded.com/solar-cells-just-got-better-efficiency-has-been-improved-by-almost-30/"/>
              </a:rPr>
              <a:t>This Photo</a:t>
            </a:r>
            <a:r>
              <a:rPr lang="en-GB" sz="900"/>
              <a:t> by Unknown Author is licensed under </a:t>
            </a:r>
            <a:r>
              <a:rPr lang="en-GB" sz="900">
                <a:hlinkClick r:id="rId4" tooltip="https://creativecommons.org/licenses/by-nc-sa/3.0/"/>
              </a:rPr>
              <a:t>CC BY-SA-NC</a:t>
            </a:r>
            <a:endParaRPr lang="en-GB" sz="900"/>
          </a:p>
        </p:txBody>
      </p:sp>
    </p:spTree>
    <p:extLst>
      <p:ext uri="{BB962C8B-B14F-4D97-AF65-F5344CB8AC3E}">
        <p14:creationId xmlns:p14="http://schemas.microsoft.com/office/powerpoint/2010/main" val="655668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E6B9-9156-24F4-40D8-7EEDAFF696B0}"/>
              </a:ext>
            </a:extLst>
          </p:cNvPr>
          <p:cNvSpPr>
            <a:spLocks noGrp="1"/>
          </p:cNvSpPr>
          <p:nvPr>
            <p:ph type="ctrTitle"/>
          </p:nvPr>
        </p:nvSpPr>
        <p:spPr>
          <a:xfrm>
            <a:off x="1060704" y="694944"/>
            <a:ext cx="9607296" cy="4965192"/>
          </a:xfrm>
        </p:spPr>
        <p:txBody>
          <a:bodyPr>
            <a:normAutofit fontScale="90000"/>
          </a:bodyPr>
          <a:lstStyle/>
          <a:p>
            <a:pPr algn="l"/>
            <a:br>
              <a:rPr lang="en-GB" sz="2400" dirty="0"/>
            </a:br>
            <a:br>
              <a:rPr lang="en-GB" sz="2400" dirty="0"/>
            </a:br>
            <a:br>
              <a:rPr lang="en-GB" sz="2400" dirty="0"/>
            </a:br>
            <a:br>
              <a:rPr lang="en-GB" sz="2400" dirty="0"/>
            </a:br>
            <a:br>
              <a:rPr lang="en-GB" sz="2400" dirty="0"/>
            </a:br>
            <a:br>
              <a:rPr lang="en-GB" sz="2400" dirty="0"/>
            </a:br>
            <a:br>
              <a:rPr lang="en-GB" sz="2400" dirty="0"/>
            </a:br>
            <a:br>
              <a:rPr lang="en-GB" sz="2400" dirty="0"/>
            </a:br>
            <a:br>
              <a:rPr lang="en-GB" sz="2400" dirty="0"/>
            </a:br>
            <a:br>
              <a:rPr lang="en-GB" sz="2400" dirty="0"/>
            </a:br>
            <a:br>
              <a:rPr lang="en-GB" sz="2400" dirty="0"/>
            </a:br>
            <a:br>
              <a:rPr lang="en-GB" sz="2400" dirty="0"/>
            </a:br>
            <a:br>
              <a:rPr lang="en-GB" sz="2400" dirty="0"/>
            </a:br>
            <a:r>
              <a:rPr lang="en-GB" sz="2400" dirty="0">
                <a:solidFill>
                  <a:schemeClr val="accent1">
                    <a:lumMod val="50000"/>
                  </a:schemeClr>
                </a:solidFill>
              </a:rPr>
              <a:t>Assumptions for calculating the threshold ‘above this threshold we can offer free energy because we will have surplus of energy’:</a:t>
            </a:r>
            <a:br>
              <a:rPr lang="en-GB" sz="2400" dirty="0">
                <a:solidFill>
                  <a:schemeClr val="accent1">
                    <a:lumMod val="50000"/>
                  </a:schemeClr>
                </a:solidFill>
              </a:rPr>
            </a:br>
            <a:r>
              <a:rPr lang="en-GB" sz="2400" dirty="0">
                <a:solidFill>
                  <a:schemeClr val="accent1">
                    <a:lumMod val="50000"/>
                  </a:schemeClr>
                </a:solidFill>
              </a:rPr>
              <a:t>1-</a:t>
            </a:r>
            <a:r>
              <a:rPr lang="en-GB" sz="2400" dirty="0"/>
              <a:t>number of houses = 500 house</a:t>
            </a:r>
            <a:br>
              <a:rPr lang="en-GB" sz="2400" dirty="0"/>
            </a:br>
            <a:r>
              <a:rPr lang="en-GB" sz="2400" dirty="0">
                <a:solidFill>
                  <a:schemeClr val="accent1">
                    <a:lumMod val="50000"/>
                  </a:schemeClr>
                </a:solidFill>
              </a:rPr>
              <a:t>2-</a:t>
            </a:r>
            <a:r>
              <a:rPr lang="en-GB" sz="2400" dirty="0"/>
              <a:t>energy per hour per hour  = 0.5 </a:t>
            </a:r>
            <a:br>
              <a:rPr lang="en-GB" sz="2400" dirty="0"/>
            </a:br>
            <a:r>
              <a:rPr lang="en-GB" sz="2400" dirty="0">
                <a:solidFill>
                  <a:schemeClr val="accent1">
                    <a:lumMod val="50000"/>
                  </a:schemeClr>
                </a:solidFill>
              </a:rPr>
              <a:t>3-</a:t>
            </a:r>
            <a:r>
              <a:rPr lang="en-GB" sz="2400" dirty="0"/>
              <a:t>the changes of people behaviour = 3 times </a:t>
            </a:r>
            <a:br>
              <a:rPr lang="en-GB" sz="2400" dirty="0"/>
            </a:br>
            <a:r>
              <a:rPr lang="en-GB" sz="2400" dirty="0"/>
              <a:t>threshold =  </a:t>
            </a:r>
            <a:r>
              <a:rPr lang="en-GB" sz="2400" dirty="0" err="1"/>
              <a:t>maltiplying</a:t>
            </a:r>
            <a:r>
              <a:rPr lang="en-GB" sz="2400" dirty="0"/>
              <a:t> the three component above</a:t>
            </a:r>
            <a:br>
              <a:rPr lang="en-GB" sz="2400" dirty="0"/>
            </a:br>
            <a:r>
              <a:rPr lang="en-GB" sz="2400" dirty="0"/>
              <a:t>assuming that the </a:t>
            </a:r>
            <a:r>
              <a:rPr lang="en-GB" sz="2400" dirty="0" err="1"/>
              <a:t>annualy</a:t>
            </a:r>
            <a:r>
              <a:rPr lang="en-GB" sz="2400" dirty="0"/>
              <a:t> consumption of electricity per house per family is 0.5 kwh</a:t>
            </a:r>
            <a:br>
              <a:rPr lang="en-GB" sz="2400" dirty="0"/>
            </a:br>
            <a:br>
              <a:rPr lang="en-GB" sz="2400" dirty="0"/>
            </a:br>
            <a:br>
              <a:rPr lang="en-GB" sz="2400" dirty="0"/>
            </a:br>
            <a:br>
              <a:rPr lang="en-GB" sz="2400" dirty="0"/>
            </a:br>
            <a:br>
              <a:rPr lang="en-GB" sz="2400" dirty="0"/>
            </a:br>
            <a:br>
              <a:rPr lang="en-GB" sz="2400" dirty="0"/>
            </a:br>
            <a:endParaRPr lang="en-GB" sz="2400" dirty="0"/>
          </a:p>
        </p:txBody>
      </p:sp>
      <p:sp>
        <p:nvSpPr>
          <p:cNvPr id="3" name="Subtitle 2">
            <a:extLst>
              <a:ext uri="{FF2B5EF4-FFF2-40B4-BE49-F238E27FC236}">
                <a16:creationId xmlns:a16="http://schemas.microsoft.com/office/drawing/2014/main" id="{3CA86B4D-08DA-765F-E60A-E64D938E3AF0}"/>
              </a:ext>
            </a:extLst>
          </p:cNvPr>
          <p:cNvSpPr>
            <a:spLocks noGrp="1"/>
          </p:cNvSpPr>
          <p:nvPr>
            <p:ph type="subTitle" idx="1"/>
          </p:nvPr>
        </p:nvSpPr>
        <p:spPr>
          <a:xfrm>
            <a:off x="1060704" y="4048216"/>
            <a:ext cx="9607296" cy="1970843"/>
          </a:xfrm>
        </p:spPr>
        <p:txBody>
          <a:bodyPr>
            <a:normAutofit fontScale="70000" lnSpcReduction="20000"/>
          </a:bodyPr>
          <a:lstStyle/>
          <a:p>
            <a:pPr algn="l"/>
            <a:r>
              <a:rPr lang="en-GB" sz="2000" dirty="0">
                <a:solidFill>
                  <a:schemeClr val="tx1"/>
                </a:solidFill>
                <a:latin typeface="+mj-lt"/>
              </a:rPr>
              <a:t>Assumptions for calculating the solar panels energy, which can be calculated from ‘E = A*R*H*PR ‘:</a:t>
            </a:r>
          </a:p>
          <a:p>
            <a:pPr algn="l"/>
            <a:r>
              <a:rPr lang="en-GB" sz="2000" dirty="0">
                <a:solidFill>
                  <a:schemeClr val="tx1"/>
                </a:solidFill>
                <a:latin typeface="+mj-lt"/>
              </a:rPr>
              <a:t>1-</a:t>
            </a:r>
            <a:r>
              <a:rPr lang="en-GB" sz="2000" dirty="0">
                <a:latin typeface="+mj-lt"/>
              </a:rPr>
              <a:t> area for the solar panels= 1.5 meter</a:t>
            </a:r>
          </a:p>
          <a:p>
            <a:pPr algn="l"/>
            <a:r>
              <a:rPr lang="en-GB" sz="2000" dirty="0">
                <a:solidFill>
                  <a:schemeClr val="tx1"/>
                </a:solidFill>
                <a:latin typeface="+mj-lt"/>
              </a:rPr>
              <a:t>2-</a:t>
            </a:r>
            <a:r>
              <a:rPr lang="en-GB" sz="2000" dirty="0">
                <a:latin typeface="+mj-lt"/>
              </a:rPr>
              <a:t> efficiency = 0.5</a:t>
            </a:r>
          </a:p>
          <a:p>
            <a:pPr algn="l"/>
            <a:r>
              <a:rPr lang="en-GB" sz="2000" dirty="0">
                <a:solidFill>
                  <a:schemeClr val="tx1"/>
                </a:solidFill>
                <a:latin typeface="+mj-lt"/>
              </a:rPr>
              <a:t>3-</a:t>
            </a:r>
            <a:r>
              <a:rPr lang="en-GB" sz="2000" dirty="0">
                <a:latin typeface="+mj-lt"/>
              </a:rPr>
              <a:t> performance = 0.7</a:t>
            </a:r>
          </a:p>
          <a:p>
            <a:pPr algn="l"/>
            <a:r>
              <a:rPr lang="en-GB" sz="2000" dirty="0">
                <a:latin typeface="+mj-lt"/>
              </a:rPr>
              <a:t>For calculating the energy, we multiple all the previous component with the hourly predicted value of </a:t>
            </a:r>
            <a:r>
              <a:rPr lang="en-GB" sz="2000" dirty="0" err="1">
                <a:latin typeface="+mj-lt"/>
              </a:rPr>
              <a:t>solarradation</a:t>
            </a:r>
            <a:r>
              <a:rPr lang="en-GB" sz="2000" dirty="0">
                <a:latin typeface="+mj-lt"/>
              </a:rPr>
              <a:t> h.</a:t>
            </a:r>
          </a:p>
          <a:p>
            <a:pPr algn="l"/>
            <a:r>
              <a:rPr lang="en-GB" sz="2000" dirty="0">
                <a:latin typeface="+mj-lt"/>
              </a:rPr>
              <a:t>I will assume that the company has 200 solar panels to generate electricity.</a:t>
            </a:r>
          </a:p>
          <a:p>
            <a:endParaRPr lang="en-GB" dirty="0"/>
          </a:p>
        </p:txBody>
      </p:sp>
    </p:spTree>
    <p:extLst>
      <p:ext uri="{BB962C8B-B14F-4D97-AF65-F5344CB8AC3E}">
        <p14:creationId xmlns:p14="http://schemas.microsoft.com/office/powerpoint/2010/main" val="3832933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4" name="Group 53">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55" name="Straight Connector 54">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7"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8"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9" name="Isosceles Triangle 58">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0"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1"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2"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3" name="Isosceles Triangle 62">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4" name="Isosceles Triangle 63">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useBgFill="1">
        <p:nvSpPr>
          <p:cNvPr id="66" name="Rectangle 65">
            <a:extLst>
              <a:ext uri="{FF2B5EF4-FFF2-40B4-BE49-F238E27FC236}">
                <a16:creationId xmlns:a16="http://schemas.microsoft.com/office/drawing/2014/main" id="{BDDE9CD4-0E0A-4129-8689-A89C4E9A6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7D92DB4-5BDA-90DF-DAB6-1AD9DA2F8C83}"/>
              </a:ext>
            </a:extLst>
          </p:cNvPr>
          <p:cNvPicPr>
            <a:picLocks noChangeAspect="1"/>
          </p:cNvPicPr>
          <p:nvPr/>
        </p:nvPicPr>
        <p:blipFill rotWithShape="1">
          <a:blip r:embed="rId2">
            <a:duotone>
              <a:schemeClr val="bg2">
                <a:shade val="45000"/>
                <a:satMod val="135000"/>
              </a:schemeClr>
              <a:prstClr val="white"/>
            </a:duotone>
            <a:alphaModFix amt="25000"/>
          </a:blip>
          <a:srcRect r="3112" b="1"/>
          <a:stretch/>
        </p:blipFill>
        <p:spPr>
          <a:xfrm>
            <a:off x="1" y="10"/>
            <a:ext cx="12191999" cy="6857990"/>
          </a:xfrm>
          <a:prstGeom prst="rect">
            <a:avLst/>
          </a:prstGeom>
        </p:spPr>
      </p:pic>
      <p:grpSp>
        <p:nvGrpSpPr>
          <p:cNvPr id="68" name="Group 67">
            <a:extLst>
              <a:ext uri="{FF2B5EF4-FFF2-40B4-BE49-F238E27FC236}">
                <a16:creationId xmlns:a16="http://schemas.microsoft.com/office/drawing/2014/main" id="{85DB3CA2-FA66-42B9-90EF-394894352D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69" name="Straight Connector 68">
              <a:extLst>
                <a:ext uri="{FF2B5EF4-FFF2-40B4-BE49-F238E27FC236}">
                  <a16:creationId xmlns:a16="http://schemas.microsoft.com/office/drawing/2014/main" id="{2C8D0718-07C6-45A2-A743-BC64673C96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FAE7BCCE-817C-4933-A587-F1EF87D4B4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1" name="Rectangle 23">
              <a:extLst>
                <a:ext uri="{FF2B5EF4-FFF2-40B4-BE49-F238E27FC236}">
                  <a16:creationId xmlns:a16="http://schemas.microsoft.com/office/drawing/2014/main" id="{0E96C1E8-3E07-4AF1-BA61-7FB948F90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72" name="Rectangle 25">
              <a:extLst>
                <a:ext uri="{FF2B5EF4-FFF2-40B4-BE49-F238E27FC236}">
                  <a16:creationId xmlns:a16="http://schemas.microsoft.com/office/drawing/2014/main" id="{B3B592D1-4031-4144-A2DB-B2D8F8C73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73" name="Isosceles Triangle 72">
              <a:extLst>
                <a:ext uri="{FF2B5EF4-FFF2-40B4-BE49-F238E27FC236}">
                  <a16:creationId xmlns:a16="http://schemas.microsoft.com/office/drawing/2014/main" id="{55CB28D4-D6D1-4DB7-B557-D5FF65237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74" name="Rectangle 27">
              <a:extLst>
                <a:ext uri="{FF2B5EF4-FFF2-40B4-BE49-F238E27FC236}">
                  <a16:creationId xmlns:a16="http://schemas.microsoft.com/office/drawing/2014/main" id="{F69D97D4-6031-4064-9BBA-2E96839A3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75" name="Rectangle 28">
              <a:extLst>
                <a:ext uri="{FF2B5EF4-FFF2-40B4-BE49-F238E27FC236}">
                  <a16:creationId xmlns:a16="http://schemas.microsoft.com/office/drawing/2014/main" id="{BAF978AE-97B1-4224-A562-EBCE373A1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76" name="Rectangle 29">
              <a:extLst>
                <a:ext uri="{FF2B5EF4-FFF2-40B4-BE49-F238E27FC236}">
                  <a16:creationId xmlns:a16="http://schemas.microsoft.com/office/drawing/2014/main" id="{3A18250B-41A2-4BA7-9E5C-679CF3AE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77" name="Isosceles Triangle 76">
              <a:extLst>
                <a:ext uri="{FF2B5EF4-FFF2-40B4-BE49-F238E27FC236}">
                  <a16:creationId xmlns:a16="http://schemas.microsoft.com/office/drawing/2014/main" id="{C8751ECC-5286-4332-9942-2D01B7135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78" name="Isosceles Triangle 77">
              <a:extLst>
                <a:ext uri="{FF2B5EF4-FFF2-40B4-BE49-F238E27FC236}">
                  <a16:creationId xmlns:a16="http://schemas.microsoft.com/office/drawing/2014/main" id="{5952A4A6-F619-458C-A026-6E5D6AF15D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378A59ED-B1E2-05A3-E1B0-9C8A1A05DF2C}"/>
              </a:ext>
            </a:extLst>
          </p:cNvPr>
          <p:cNvSpPr>
            <a:spLocks noGrp="1"/>
          </p:cNvSpPr>
          <p:nvPr>
            <p:ph type="ctrTitle"/>
          </p:nvPr>
        </p:nvSpPr>
        <p:spPr>
          <a:xfrm>
            <a:off x="677334" y="609600"/>
            <a:ext cx="8596668" cy="1320800"/>
          </a:xfrm>
        </p:spPr>
        <p:txBody>
          <a:bodyPr vert="horz" lIns="91440" tIns="45720" rIns="91440" bIns="45720" rtlCol="0" anchor="t">
            <a:normAutofit/>
          </a:bodyPr>
          <a:lstStyle/>
          <a:p>
            <a:pPr algn="l">
              <a:lnSpc>
                <a:spcPct val="90000"/>
              </a:lnSpc>
            </a:pPr>
            <a:r>
              <a:rPr lang="en-US" sz="1400" dirty="0"/>
              <a:t>Methods:</a:t>
            </a:r>
            <a:br>
              <a:rPr lang="en-US" sz="1400" dirty="0"/>
            </a:br>
            <a:r>
              <a:rPr lang="en-US" sz="1400" dirty="0"/>
              <a:t>1-the input: the historic data I choose to work on ‘</a:t>
            </a:r>
            <a:r>
              <a:rPr lang="en-US" sz="1400" dirty="0" err="1"/>
              <a:t>solarradation</a:t>
            </a:r>
            <a:r>
              <a:rPr lang="en-US" sz="1400" dirty="0"/>
              <a:t> column’. </a:t>
            </a:r>
            <a:br>
              <a:rPr lang="en-US" sz="1400" dirty="0"/>
            </a:br>
            <a:r>
              <a:rPr lang="en-US" sz="1400" dirty="0"/>
              <a:t>2-The out put: the amount of surplus energy available in the next 24 hour, ‘Every hour’.</a:t>
            </a:r>
            <a:br>
              <a:rPr lang="en-US" sz="1400" dirty="0"/>
            </a:br>
            <a:r>
              <a:rPr lang="en-US" sz="1400" dirty="0"/>
              <a:t>3-modelling: baseline </a:t>
            </a:r>
            <a:br>
              <a:rPr lang="en-US" sz="1400" dirty="0"/>
            </a:br>
            <a:r>
              <a:rPr lang="en-US" sz="1400" dirty="0"/>
              <a:t>                   machine learning ‘</a:t>
            </a:r>
            <a:r>
              <a:rPr lang="en-US" sz="1400" dirty="0" err="1"/>
              <a:t>huber</a:t>
            </a:r>
            <a:r>
              <a:rPr lang="en-US" sz="1400" dirty="0"/>
              <a:t>()’ .</a:t>
            </a:r>
          </a:p>
        </p:txBody>
      </p:sp>
      <p:sp>
        <p:nvSpPr>
          <p:cNvPr id="3" name="Subtitle 2">
            <a:extLst>
              <a:ext uri="{FF2B5EF4-FFF2-40B4-BE49-F238E27FC236}">
                <a16:creationId xmlns:a16="http://schemas.microsoft.com/office/drawing/2014/main" id="{DC286E71-361F-841C-D663-688E24D84AFB}"/>
              </a:ext>
            </a:extLst>
          </p:cNvPr>
          <p:cNvSpPr>
            <a:spLocks noGrp="1"/>
          </p:cNvSpPr>
          <p:nvPr>
            <p:ph type="subTitle" idx="1"/>
          </p:nvPr>
        </p:nvSpPr>
        <p:spPr>
          <a:xfrm>
            <a:off x="677334" y="2160589"/>
            <a:ext cx="8596668" cy="3880773"/>
          </a:xfrm>
        </p:spPr>
        <p:txBody>
          <a:bodyPr vert="horz" lIns="91440" tIns="45720" rIns="91440" bIns="45720" rtlCol="0">
            <a:normAutofit/>
          </a:bodyPr>
          <a:lstStyle/>
          <a:p>
            <a:pPr algn="l">
              <a:buFont typeface="Wingdings 3" charset="2"/>
              <a:buChar char=""/>
            </a:pPr>
            <a:r>
              <a:rPr lang="en-US">
                <a:solidFill>
                  <a:schemeClr val="tx1">
                    <a:lumMod val="75000"/>
                    <a:lumOff val="25000"/>
                  </a:schemeClr>
                </a:solidFill>
              </a:rPr>
              <a:t>Breif explanation about my work:</a:t>
            </a:r>
          </a:p>
          <a:p>
            <a:pPr algn="l">
              <a:buFont typeface="Wingdings 3" charset="2"/>
              <a:buChar char=""/>
            </a:pPr>
            <a:r>
              <a:rPr lang="en-US">
                <a:solidFill>
                  <a:schemeClr val="tx1">
                    <a:lumMod val="75000"/>
                    <a:lumOff val="25000"/>
                  </a:schemeClr>
                </a:solidFill>
              </a:rPr>
              <a:t>First of all, I divided my data set to train validation and test. The first 9 yeas train the next 4 for validation and the remaining data for testing.</a:t>
            </a:r>
          </a:p>
          <a:p>
            <a:pPr algn="l">
              <a:buFont typeface="Wingdings 3" charset="2"/>
              <a:buChar char=""/>
            </a:pPr>
            <a:r>
              <a:rPr lang="en-US">
                <a:solidFill>
                  <a:schemeClr val="tx1">
                    <a:lumMod val="75000"/>
                    <a:lumOff val="25000"/>
                  </a:schemeClr>
                </a:solidFill>
              </a:rPr>
              <a:t>I used two models baseline and machine learning. </a:t>
            </a:r>
          </a:p>
          <a:p>
            <a:pPr algn="l">
              <a:buFont typeface="Wingdings 3" charset="2"/>
              <a:buChar char=""/>
            </a:pPr>
            <a:r>
              <a:rPr lang="en-US">
                <a:solidFill>
                  <a:schemeClr val="tx1">
                    <a:lumMod val="75000"/>
                    <a:lumOff val="25000"/>
                  </a:schemeClr>
                </a:solidFill>
              </a:rPr>
              <a:t>Why I used baseline?</a:t>
            </a:r>
          </a:p>
          <a:p>
            <a:pPr algn="l">
              <a:buFont typeface="Wingdings 3" charset="2"/>
              <a:buChar char=""/>
            </a:pPr>
            <a:r>
              <a:rPr lang="en-US">
                <a:solidFill>
                  <a:schemeClr val="tx1">
                    <a:lumMod val="75000"/>
                    <a:lumOff val="25000"/>
                  </a:schemeClr>
                </a:solidFill>
              </a:rPr>
              <a:t> Because I want to make sure that my machine learning model give a better prediction. For the baseline I used the previous four years from traning and compared it with my validation set then getting the MAE.</a:t>
            </a:r>
          </a:p>
          <a:p>
            <a:pPr algn="l">
              <a:buFont typeface="Wingdings 3" charset="2"/>
              <a:buChar char=""/>
            </a:pPr>
            <a:r>
              <a:rPr lang="en-US">
                <a:solidFill>
                  <a:schemeClr val="tx1">
                    <a:lumMod val="75000"/>
                    <a:lumOff val="25000"/>
                  </a:schemeClr>
                </a:solidFill>
              </a:rPr>
              <a:t> for the machine learning I took window size of 24 to predict the next 24 hour.</a:t>
            </a:r>
          </a:p>
        </p:txBody>
      </p:sp>
    </p:spTree>
    <p:extLst>
      <p:ext uri="{BB962C8B-B14F-4D97-AF65-F5344CB8AC3E}">
        <p14:creationId xmlns:p14="http://schemas.microsoft.com/office/powerpoint/2010/main" val="1028443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4C279-6960-6AE1-097A-85A15CDB8EC0}"/>
              </a:ext>
            </a:extLst>
          </p:cNvPr>
          <p:cNvSpPr>
            <a:spLocks noGrp="1"/>
          </p:cNvSpPr>
          <p:nvPr>
            <p:ph type="title"/>
          </p:nvPr>
        </p:nvSpPr>
        <p:spPr>
          <a:xfrm>
            <a:off x="831850" y="-399496"/>
            <a:ext cx="10515600" cy="5557422"/>
          </a:xfrm>
        </p:spPr>
        <p:txBody>
          <a:bodyPr>
            <a:normAutofit/>
          </a:bodyPr>
          <a:lstStyle/>
          <a:p>
            <a:r>
              <a:rPr lang="en-GB" sz="2400" dirty="0">
                <a:solidFill>
                  <a:schemeClr val="accent2">
                    <a:lumMod val="50000"/>
                  </a:schemeClr>
                </a:solidFill>
              </a:rPr>
              <a:t>Result :</a:t>
            </a:r>
            <a:br>
              <a:rPr lang="en-GB" sz="2400" dirty="0">
                <a:solidFill>
                  <a:schemeClr val="accent2">
                    <a:lumMod val="75000"/>
                  </a:schemeClr>
                </a:solidFill>
              </a:rPr>
            </a:br>
            <a:r>
              <a:rPr lang="en-GB" sz="2400" dirty="0">
                <a:solidFill>
                  <a:schemeClr val="accent2">
                    <a:lumMod val="75000"/>
                  </a:schemeClr>
                </a:solidFill>
              </a:rPr>
              <a:t>the threshold = 500* 0.5* 3 = 750 kwh/m2</a:t>
            </a:r>
            <a:br>
              <a:rPr lang="en-GB" sz="2400" dirty="0">
                <a:solidFill>
                  <a:schemeClr val="accent2">
                    <a:lumMod val="75000"/>
                  </a:schemeClr>
                </a:solidFill>
              </a:rPr>
            </a:br>
            <a:r>
              <a:rPr lang="en-GB" sz="2400" dirty="0">
                <a:solidFill>
                  <a:schemeClr val="accent2">
                    <a:lumMod val="75000"/>
                  </a:schemeClr>
                </a:solidFill>
              </a:rPr>
              <a:t>‘if the energy generated is less than that we cannot offer local people free energy otherwise if the company will offer under the threshold that will cost the company money’.</a:t>
            </a:r>
            <a:br>
              <a:rPr lang="en-GB" sz="2400" dirty="0"/>
            </a:br>
            <a:br>
              <a:rPr lang="en-GB" sz="2400" dirty="0"/>
            </a:br>
            <a:br>
              <a:rPr lang="en-GB" sz="2400" dirty="0"/>
            </a:br>
            <a:br>
              <a:rPr lang="en-GB" sz="2400" dirty="0"/>
            </a:br>
            <a:br>
              <a:rPr lang="en-GB" sz="2400" dirty="0"/>
            </a:br>
            <a:br>
              <a:rPr lang="en-GB" sz="2400" dirty="0"/>
            </a:br>
            <a:br>
              <a:rPr lang="en-GB" sz="2400" dirty="0"/>
            </a:br>
            <a:endParaRPr lang="en-GB" sz="2400" dirty="0"/>
          </a:p>
        </p:txBody>
      </p:sp>
      <p:sp>
        <p:nvSpPr>
          <p:cNvPr id="3" name="Text Placeholder 2">
            <a:extLst>
              <a:ext uri="{FF2B5EF4-FFF2-40B4-BE49-F238E27FC236}">
                <a16:creationId xmlns:a16="http://schemas.microsoft.com/office/drawing/2014/main" id="{11CAA8F8-7BE9-A7F4-4398-3071C0FEC3EE}"/>
              </a:ext>
            </a:extLst>
          </p:cNvPr>
          <p:cNvSpPr>
            <a:spLocks noGrp="1"/>
          </p:cNvSpPr>
          <p:nvPr>
            <p:ph type="body" idx="1"/>
          </p:nvPr>
        </p:nvSpPr>
        <p:spPr>
          <a:xfrm>
            <a:off x="844550" y="2815643"/>
            <a:ext cx="10515600" cy="3017976"/>
          </a:xfrm>
        </p:spPr>
        <p:txBody>
          <a:bodyPr>
            <a:normAutofit/>
          </a:bodyPr>
          <a:lstStyle/>
          <a:p>
            <a:r>
              <a:rPr lang="en-GB" dirty="0">
                <a:solidFill>
                  <a:schemeClr val="tx1">
                    <a:lumMod val="95000"/>
                    <a:lumOff val="5000"/>
                  </a:schemeClr>
                </a:solidFill>
              </a:rPr>
              <a:t>False positive</a:t>
            </a:r>
          </a:p>
          <a:p>
            <a:r>
              <a:rPr lang="en-GB" dirty="0">
                <a:solidFill>
                  <a:srgbClr val="FF0000"/>
                </a:solidFill>
              </a:rPr>
              <a:t>It is extremely important for preventing losing money by offering people energy when there is no free energy. </a:t>
            </a:r>
          </a:p>
          <a:p>
            <a:r>
              <a:rPr lang="en-GB" dirty="0">
                <a:solidFill>
                  <a:schemeClr val="tx1">
                    <a:lumMod val="95000"/>
                    <a:lumOff val="5000"/>
                  </a:schemeClr>
                </a:solidFill>
              </a:rPr>
              <a:t>How we prevent that?</a:t>
            </a:r>
          </a:p>
          <a:p>
            <a:r>
              <a:rPr lang="en-GB" dirty="0">
                <a:solidFill>
                  <a:schemeClr val="tx1">
                    <a:lumMod val="65000"/>
                    <a:lumOff val="35000"/>
                  </a:schemeClr>
                </a:solidFill>
              </a:rPr>
              <a:t>I will take the amount of </a:t>
            </a:r>
            <a:r>
              <a:rPr lang="en-GB" dirty="0" err="1">
                <a:solidFill>
                  <a:schemeClr val="tx1">
                    <a:lumMod val="65000"/>
                    <a:lumOff val="35000"/>
                  </a:schemeClr>
                </a:solidFill>
              </a:rPr>
              <a:t>solarradation</a:t>
            </a:r>
            <a:r>
              <a:rPr lang="en-GB" dirty="0">
                <a:solidFill>
                  <a:schemeClr val="tx1">
                    <a:lumMod val="65000"/>
                    <a:lumOff val="35000"/>
                  </a:schemeClr>
                </a:solidFill>
              </a:rPr>
              <a:t> that is predicted every hour and subtract the MAE ‘the error’. In tis way I can reduce the consequences of if my prediction was different from what will happen in the reality. I will make comparison in the next slide.</a:t>
            </a:r>
          </a:p>
        </p:txBody>
      </p:sp>
    </p:spTree>
    <p:extLst>
      <p:ext uri="{BB962C8B-B14F-4D97-AF65-F5344CB8AC3E}">
        <p14:creationId xmlns:p14="http://schemas.microsoft.com/office/powerpoint/2010/main" val="2303476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0CEBF-C557-514B-555D-9CDA902FD7F0}"/>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D3C46B90-8E02-CE72-50CA-A9FEC114090A}"/>
              </a:ext>
            </a:extLst>
          </p:cNvPr>
          <p:cNvSpPr>
            <a:spLocks noGrp="1"/>
          </p:cNvSpPr>
          <p:nvPr>
            <p:ph type="body" idx="1"/>
          </p:nvPr>
        </p:nvSpPr>
        <p:spPr>
          <a:xfrm>
            <a:off x="1152525" y="5362574"/>
            <a:ext cx="10134600" cy="1091421"/>
          </a:xfrm>
        </p:spPr>
        <p:txBody>
          <a:bodyPr/>
          <a:lstStyle/>
          <a:p>
            <a:r>
              <a:rPr lang="en-GB" dirty="0"/>
              <a:t>This figure shows the predicted amount of </a:t>
            </a:r>
            <a:r>
              <a:rPr lang="en-GB" dirty="0" err="1"/>
              <a:t>solarradation</a:t>
            </a:r>
            <a:r>
              <a:rPr lang="en-GB" dirty="0"/>
              <a:t> absorbed or reached by solar panels, the actual value and the threshold.</a:t>
            </a:r>
          </a:p>
        </p:txBody>
      </p:sp>
      <p:pic>
        <p:nvPicPr>
          <p:cNvPr id="5" name="Picture 4" descr="A graph showing a graph&#10;&#10;Description automatically generated with medium confidence">
            <a:extLst>
              <a:ext uri="{FF2B5EF4-FFF2-40B4-BE49-F238E27FC236}">
                <a16:creationId xmlns:a16="http://schemas.microsoft.com/office/drawing/2014/main" id="{DEC86466-0304-5CBF-C24F-FEE0525320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404004"/>
            <a:ext cx="10609791" cy="4701396"/>
          </a:xfrm>
          <a:prstGeom prst="rect">
            <a:avLst/>
          </a:prstGeom>
        </p:spPr>
      </p:pic>
    </p:spTree>
    <p:extLst>
      <p:ext uri="{BB962C8B-B14F-4D97-AF65-F5344CB8AC3E}">
        <p14:creationId xmlns:p14="http://schemas.microsoft.com/office/powerpoint/2010/main" val="208150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E59D8-84F1-75F1-0652-13DA57019AAC}"/>
              </a:ext>
            </a:extLst>
          </p:cNvPr>
          <p:cNvSpPr>
            <a:spLocks noGrp="1"/>
          </p:cNvSpPr>
          <p:nvPr>
            <p:ph type="title"/>
          </p:nvPr>
        </p:nvSpPr>
        <p:spPr>
          <a:xfrm>
            <a:off x="839788" y="365126"/>
            <a:ext cx="10515600" cy="948770"/>
          </a:xfrm>
        </p:spPr>
        <p:txBody>
          <a:bodyPr/>
          <a:lstStyle/>
          <a:p>
            <a:r>
              <a:rPr lang="en-GB" dirty="0"/>
              <a:t>Hourly Predicted energy </a:t>
            </a:r>
          </a:p>
        </p:txBody>
      </p:sp>
      <p:sp>
        <p:nvSpPr>
          <p:cNvPr id="3" name="Text Placeholder 2">
            <a:extLst>
              <a:ext uri="{FF2B5EF4-FFF2-40B4-BE49-F238E27FC236}">
                <a16:creationId xmlns:a16="http://schemas.microsoft.com/office/drawing/2014/main" id="{02EA1D66-EEA6-DE3C-70F8-5AFAA0470AC0}"/>
              </a:ext>
            </a:extLst>
          </p:cNvPr>
          <p:cNvSpPr>
            <a:spLocks noGrp="1"/>
          </p:cNvSpPr>
          <p:nvPr>
            <p:ph type="body" idx="1"/>
          </p:nvPr>
        </p:nvSpPr>
        <p:spPr>
          <a:xfrm>
            <a:off x="839788" y="-195309"/>
            <a:ext cx="5157787" cy="2246051"/>
          </a:xfrm>
        </p:spPr>
        <p:txBody>
          <a:bodyPr>
            <a:normAutofit/>
          </a:bodyPr>
          <a:lstStyle/>
          <a:p>
            <a:r>
              <a:rPr lang="en-GB" dirty="0"/>
              <a:t>Before considering the false positive</a:t>
            </a:r>
          </a:p>
        </p:txBody>
      </p:sp>
      <p:sp>
        <p:nvSpPr>
          <p:cNvPr id="4" name="Content Placeholder 3">
            <a:extLst>
              <a:ext uri="{FF2B5EF4-FFF2-40B4-BE49-F238E27FC236}">
                <a16:creationId xmlns:a16="http://schemas.microsoft.com/office/drawing/2014/main" id="{5F96DF56-DCFF-F392-3141-F331B26B5B6A}"/>
              </a:ext>
            </a:extLst>
          </p:cNvPr>
          <p:cNvSpPr>
            <a:spLocks noGrp="1"/>
          </p:cNvSpPr>
          <p:nvPr>
            <p:ph sz="half" idx="2"/>
          </p:nvPr>
        </p:nvSpPr>
        <p:spPr>
          <a:xfrm>
            <a:off x="839788" y="2050742"/>
            <a:ext cx="5157787" cy="5255580"/>
          </a:xfrm>
        </p:spPr>
        <p:txBody>
          <a:bodyPr>
            <a:normAutofit fontScale="25000" lnSpcReduction="20000"/>
          </a:bodyPr>
          <a:lstStyle/>
          <a:p>
            <a:r>
              <a:rPr lang="en-GB" sz="4000" dirty="0"/>
              <a:t>Energy = (area* efficiency* predicted amount of </a:t>
            </a:r>
            <a:r>
              <a:rPr lang="en-GB" sz="4000" dirty="0" err="1"/>
              <a:t>solarradation</a:t>
            </a:r>
            <a:r>
              <a:rPr lang="en-GB" sz="4000" dirty="0"/>
              <a:t> every hour* performance)* number of solar panels</a:t>
            </a:r>
          </a:p>
          <a:p>
            <a:r>
              <a:rPr lang="en-GB" sz="4000" dirty="0"/>
              <a:t>Hour 12 =  101   then the energy is (1.5 * 0.5 * 101 *0.7)*200= 10600 &gt; 750  surplus </a:t>
            </a:r>
          </a:p>
          <a:p>
            <a:r>
              <a:rPr lang="en-GB" sz="4000" dirty="0"/>
              <a:t>Hour 13 =  130   then the energy is (1.5 * 0.5 * 130 *0.7)*200 = 13600 &gt; 750  surplus </a:t>
            </a:r>
          </a:p>
          <a:p>
            <a:r>
              <a:rPr lang="en-GB" sz="4000" dirty="0"/>
              <a:t>Hour 14 =  90   then the energy is (1.5 * 0.5 * 90 *0.7)*200 = 9400 &gt; 750  surplus </a:t>
            </a:r>
          </a:p>
          <a:p>
            <a:pPr marL="0" indent="0">
              <a:buNone/>
            </a:pPr>
            <a:r>
              <a:rPr lang="en-GB" sz="4000" dirty="0"/>
              <a:t>         Hour 15 =  26   then the energy is (1.5 * 0.5 * 26 *0.7) *200= 2600 &gt; 750  surplus </a:t>
            </a:r>
          </a:p>
          <a:p>
            <a:pPr marL="0" indent="0">
              <a:buNone/>
            </a:pPr>
            <a:r>
              <a:rPr lang="en-GB" sz="4000" dirty="0"/>
              <a:t>         Hour 16 =  5   then the energy is (1.5 * 0.5 * 5 *0.7)*200 = 600 &lt; 750  no surplus </a:t>
            </a:r>
          </a:p>
          <a:p>
            <a:pPr marL="0" indent="0">
              <a:buNone/>
            </a:pPr>
            <a:r>
              <a:rPr lang="en-GB" sz="4000" dirty="0"/>
              <a:t>         Hour 17 =  130   then the energy is (1.5 * 0.5 * 130 *0.7)*200 = 100 &lt; 750  no surplus </a:t>
            </a:r>
          </a:p>
          <a:p>
            <a:pPr marL="0" indent="0">
              <a:buNone/>
            </a:pPr>
            <a:r>
              <a:rPr lang="en-GB" sz="4000" dirty="0"/>
              <a:t>         Hour 18  to Hour 7 the amount of </a:t>
            </a:r>
            <a:r>
              <a:rPr lang="en-GB" sz="4000" dirty="0" err="1"/>
              <a:t>solarradation</a:t>
            </a:r>
            <a:r>
              <a:rPr lang="en-GB" sz="4000" dirty="0"/>
              <a:t> absorbed is 0 and that is because there        is no sun.</a:t>
            </a:r>
          </a:p>
          <a:p>
            <a:pPr marL="0" indent="0">
              <a:buNone/>
            </a:pPr>
            <a:r>
              <a:rPr lang="en-GB" sz="4000" dirty="0"/>
              <a:t>          Hour 8 =  6   then the energy is (1.5 * 0.5 * 6 *0.7)*200 = 600 &lt; 750  no surplus </a:t>
            </a:r>
          </a:p>
          <a:p>
            <a:pPr marL="0" indent="0">
              <a:buNone/>
            </a:pPr>
            <a:r>
              <a:rPr lang="en-GB" sz="4000" dirty="0"/>
              <a:t>         Hour 9 =  27   then the energy is (1.5 * 0.5 * 27 *0.7)*200 = 2600 &gt; 750   surplus </a:t>
            </a:r>
          </a:p>
          <a:p>
            <a:pPr marL="0" indent="0">
              <a:buNone/>
            </a:pPr>
            <a:r>
              <a:rPr lang="en-GB" sz="4000" dirty="0"/>
              <a:t>         Hour 10 =  75   then the energy is (1.5 * 0.5 * 75 *0.7)*200 = 7800 &gt; 750   surplus </a:t>
            </a:r>
          </a:p>
          <a:p>
            <a:pPr marL="0" indent="0">
              <a:buNone/>
            </a:pPr>
            <a:r>
              <a:rPr lang="en-GB" sz="4000" dirty="0"/>
              <a:t>         Hour 11 =  128   then the energy is (1.5 * 0.5 * 128 *0.7)*200 = 13200 &gt; 750   surplus </a:t>
            </a:r>
          </a:p>
          <a:p>
            <a:pPr marL="0" indent="0">
              <a:buNone/>
            </a:pPr>
            <a:r>
              <a:rPr lang="en-GB" sz="4000" dirty="0"/>
              <a:t>       all the numbers are approximated because I assume it is okay because the all previous      number are also made from my assumptions</a:t>
            </a:r>
          </a:p>
          <a:p>
            <a:pPr marL="0" indent="0">
              <a:buNone/>
            </a:pPr>
            <a:r>
              <a:rPr lang="en-GB" sz="4000" dirty="0"/>
              <a:t>      </a:t>
            </a:r>
          </a:p>
          <a:p>
            <a:pPr marL="0" indent="0">
              <a:buNone/>
            </a:pPr>
            <a:endParaRPr lang="en-GB" sz="3400" dirty="0"/>
          </a:p>
          <a:p>
            <a:pPr marL="0" indent="0">
              <a:buNone/>
            </a:pPr>
            <a:endParaRPr lang="en-GB" sz="3400" dirty="0"/>
          </a:p>
          <a:p>
            <a:pPr marL="0" indent="0">
              <a:buNone/>
            </a:pPr>
            <a:endParaRPr lang="en-GB" sz="1000" dirty="0"/>
          </a:p>
          <a:p>
            <a:endParaRPr lang="en-GB" sz="1000" dirty="0"/>
          </a:p>
          <a:p>
            <a:endParaRPr lang="en-GB" sz="1000" dirty="0"/>
          </a:p>
          <a:p>
            <a:endParaRPr lang="en-GB" sz="1000" dirty="0"/>
          </a:p>
        </p:txBody>
      </p:sp>
      <p:sp>
        <p:nvSpPr>
          <p:cNvPr id="5" name="Text Placeholder 4">
            <a:extLst>
              <a:ext uri="{FF2B5EF4-FFF2-40B4-BE49-F238E27FC236}">
                <a16:creationId xmlns:a16="http://schemas.microsoft.com/office/drawing/2014/main" id="{51CC5BF3-CA5F-E4D0-FB2C-F00689FFBCEF}"/>
              </a:ext>
            </a:extLst>
          </p:cNvPr>
          <p:cNvSpPr>
            <a:spLocks noGrp="1"/>
          </p:cNvSpPr>
          <p:nvPr>
            <p:ph type="body" sz="quarter" idx="3"/>
          </p:nvPr>
        </p:nvSpPr>
        <p:spPr>
          <a:xfrm>
            <a:off x="6172200" y="177283"/>
            <a:ext cx="5183188" cy="948770"/>
          </a:xfrm>
        </p:spPr>
        <p:txBody>
          <a:bodyPr>
            <a:normAutofit/>
          </a:bodyPr>
          <a:lstStyle/>
          <a:p>
            <a:r>
              <a:rPr lang="en-GB" dirty="0"/>
              <a:t>After considering the false positive to reduce the risk</a:t>
            </a:r>
          </a:p>
        </p:txBody>
      </p:sp>
      <p:sp>
        <p:nvSpPr>
          <p:cNvPr id="6" name="Content Placeholder 5">
            <a:extLst>
              <a:ext uri="{FF2B5EF4-FFF2-40B4-BE49-F238E27FC236}">
                <a16:creationId xmlns:a16="http://schemas.microsoft.com/office/drawing/2014/main" id="{95DC1A41-E54F-76FC-E9BE-4638C4EE0BF0}"/>
              </a:ext>
            </a:extLst>
          </p:cNvPr>
          <p:cNvSpPr>
            <a:spLocks noGrp="1"/>
          </p:cNvSpPr>
          <p:nvPr>
            <p:ph sz="quarter" idx="4"/>
          </p:nvPr>
        </p:nvSpPr>
        <p:spPr>
          <a:xfrm>
            <a:off x="6096000" y="1126054"/>
            <a:ext cx="5183188" cy="2055686"/>
          </a:xfrm>
        </p:spPr>
        <p:txBody>
          <a:bodyPr>
            <a:noAutofit/>
          </a:bodyPr>
          <a:lstStyle/>
          <a:p>
            <a:r>
              <a:rPr lang="en-GB" sz="1050" dirty="0"/>
              <a:t>Energy =(area* efficiency* [predicted amount of </a:t>
            </a:r>
            <a:r>
              <a:rPr lang="en-GB" sz="1050" dirty="0" err="1"/>
              <a:t>solarradation</a:t>
            </a:r>
            <a:r>
              <a:rPr lang="en-GB" sz="1050" dirty="0"/>
              <a:t> every hour – mean average error] * performance)* number of solar panels</a:t>
            </a:r>
          </a:p>
          <a:p>
            <a:r>
              <a:rPr lang="en-GB" sz="1050" dirty="0"/>
              <a:t>Hour 12 =  101-53  then the energy is (1.5 * 0.5 * 48 *0.7)*200= 4300 &gt; 750  surplus </a:t>
            </a:r>
          </a:p>
          <a:p>
            <a:r>
              <a:rPr lang="en-GB" sz="1050" dirty="0"/>
              <a:t>Hour 13 =  130 -53  then the energy is (1.5 * 0.5 * 77 *0.7)*200 = 7700 &gt; 750  surplus </a:t>
            </a:r>
          </a:p>
          <a:p>
            <a:r>
              <a:rPr lang="en-GB" sz="1050" dirty="0"/>
              <a:t>Hour 14 =  90 -53   then the energy is (1.5 * 0.5 * 37 *0.7)*200 = 3800 &gt; 750  surplus </a:t>
            </a:r>
          </a:p>
          <a:p>
            <a:pPr marL="0" indent="0">
              <a:buNone/>
            </a:pPr>
            <a:r>
              <a:rPr lang="en-GB" sz="1050" dirty="0"/>
              <a:t>         Hour 15 =  26 -53   then the energy is (1.5 * 0.5 * -27 *0.7) *200=- 0&gt; 750  no surplus </a:t>
            </a:r>
          </a:p>
          <a:p>
            <a:pPr marL="0" indent="0">
              <a:buNone/>
            </a:pPr>
            <a:r>
              <a:rPr lang="en-GB" sz="1050" dirty="0"/>
              <a:t>         Hour 16 =  5 -53   then the energy is (1.5 * 0.5 * 48 *0.7)*200 = 0&lt; 750  no surplus </a:t>
            </a:r>
          </a:p>
          <a:p>
            <a:pPr marL="0" indent="0">
              <a:buNone/>
            </a:pPr>
            <a:r>
              <a:rPr lang="en-GB" sz="1050" dirty="0"/>
              <a:t>Hour 18  to Hour 7 the amount of </a:t>
            </a:r>
            <a:r>
              <a:rPr lang="en-GB" sz="1050" dirty="0" err="1"/>
              <a:t>solarradation</a:t>
            </a:r>
            <a:r>
              <a:rPr lang="en-GB" sz="1050" dirty="0"/>
              <a:t> absorbed is 0 and that is because there is no sun.</a:t>
            </a:r>
          </a:p>
          <a:p>
            <a:pPr marL="0" indent="0">
              <a:buNone/>
            </a:pPr>
            <a:r>
              <a:rPr lang="en-GB" sz="1050" dirty="0"/>
              <a:t>          Hour 8 =  6 -53   then the energy is (1.5 * 0.5 * -47 *0.7)*200 = 600 &lt; 750  no surplus </a:t>
            </a:r>
          </a:p>
          <a:p>
            <a:pPr marL="0" indent="0">
              <a:buNone/>
            </a:pPr>
            <a:r>
              <a:rPr lang="en-GB" sz="1050" dirty="0"/>
              <a:t>         Hour 9 =  27 -53   then the energy is (1.5 * 0.5 * -26 *0.7)*200 = 0 &gt; 750   no surplus </a:t>
            </a:r>
          </a:p>
          <a:p>
            <a:pPr marL="0" indent="0">
              <a:buNone/>
            </a:pPr>
            <a:r>
              <a:rPr lang="en-GB" sz="1050" dirty="0"/>
              <a:t>         Hour 10 =  75 -53   then the energy is (1.5 * 0.5 * 22 *0.7)*200 = 0 &gt; 750   no surplus </a:t>
            </a:r>
          </a:p>
          <a:p>
            <a:pPr marL="0" indent="0">
              <a:buNone/>
            </a:pPr>
            <a:r>
              <a:rPr lang="en-GB" sz="1050" dirty="0"/>
              <a:t>         Hour 11 =  128 -53   then the energy is (1.5 * 0.5 * 75 *0.7)*200 = 7500 &gt; 750   surplus </a:t>
            </a:r>
          </a:p>
          <a:p>
            <a:pPr marL="0" indent="0">
              <a:buNone/>
            </a:pPr>
            <a:r>
              <a:rPr lang="en-GB" sz="1050" dirty="0"/>
              <a:t>       all the numbers are approximated because I assume it is okay because the all previous      number are also made from my assumptions</a:t>
            </a:r>
          </a:p>
          <a:p>
            <a:pPr marL="0" indent="0">
              <a:buNone/>
            </a:pPr>
            <a:r>
              <a:rPr lang="en-GB" sz="1050" dirty="0"/>
              <a:t>      </a:t>
            </a:r>
          </a:p>
          <a:p>
            <a:pPr marL="0" indent="0">
              <a:buNone/>
            </a:pPr>
            <a:endParaRPr lang="en-GB" sz="1050" dirty="0"/>
          </a:p>
          <a:p>
            <a:pPr marL="0" indent="0">
              <a:buNone/>
            </a:pPr>
            <a:endParaRPr lang="en-GB" sz="1050" dirty="0"/>
          </a:p>
          <a:p>
            <a:endParaRPr lang="en-GB" sz="1050" dirty="0"/>
          </a:p>
        </p:txBody>
      </p:sp>
    </p:spTree>
    <p:extLst>
      <p:ext uri="{BB962C8B-B14F-4D97-AF65-F5344CB8AC3E}">
        <p14:creationId xmlns:p14="http://schemas.microsoft.com/office/powerpoint/2010/main" val="1817673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B3AC-3137-DBAE-4F31-159DF3D8601B}"/>
              </a:ext>
            </a:extLst>
          </p:cNvPr>
          <p:cNvSpPr>
            <a:spLocks noGrp="1"/>
          </p:cNvSpPr>
          <p:nvPr>
            <p:ph type="ctrTitle"/>
          </p:nvPr>
        </p:nvSpPr>
        <p:spPr>
          <a:xfrm>
            <a:off x="797052" y="-561975"/>
            <a:ext cx="9680448" cy="6095611"/>
          </a:xfrm>
        </p:spPr>
        <p:txBody>
          <a:bodyPr>
            <a:normAutofit fontScale="90000"/>
          </a:bodyPr>
          <a:lstStyle/>
          <a:p>
            <a:pPr algn="l"/>
            <a:br>
              <a:rPr lang="en-GB" sz="2400" dirty="0"/>
            </a:br>
            <a:br>
              <a:rPr lang="en-GB" sz="2400" dirty="0"/>
            </a:br>
            <a:r>
              <a:rPr lang="en-GB" sz="2400" dirty="0"/>
              <a:t>                                                                                                                                                                                              </a:t>
            </a:r>
            <a:r>
              <a:rPr lang="en-GB" sz="2400" dirty="0">
                <a:solidFill>
                  <a:schemeClr val="accent2">
                    <a:lumMod val="75000"/>
                  </a:schemeClr>
                </a:solidFill>
              </a:rPr>
              <a:t>So, to sum up what I have demonstrate in the previous slides before considering the false positive I decide that there is seven hours had surplus energy and the company can apply this plan.</a:t>
            </a:r>
            <a:br>
              <a:rPr lang="en-GB" sz="2400" dirty="0">
                <a:solidFill>
                  <a:schemeClr val="accent2">
                    <a:lumMod val="75000"/>
                  </a:schemeClr>
                </a:solidFill>
              </a:rPr>
            </a:br>
            <a:r>
              <a:rPr lang="en-GB" sz="2400" dirty="0">
                <a:solidFill>
                  <a:schemeClr val="accent2">
                    <a:lumMod val="75000"/>
                  </a:schemeClr>
                </a:solidFill>
              </a:rPr>
              <a:t>However, after taking false positive in consideration I decided that there is just 3 hours of surplus energy the company can offer free energy in this specific hours. I will illustrate the plot </a:t>
            </a:r>
            <a:br>
              <a:rPr lang="en-GB" sz="2400" dirty="0">
                <a:solidFill>
                  <a:schemeClr val="accent2">
                    <a:lumMod val="75000"/>
                  </a:schemeClr>
                </a:solidFill>
              </a:rPr>
            </a:br>
            <a:br>
              <a:rPr lang="en-GB" sz="2400" dirty="0"/>
            </a:br>
            <a:br>
              <a:rPr lang="en-GB" sz="2400" dirty="0"/>
            </a:br>
            <a:r>
              <a:rPr lang="en-GB" sz="2400" dirty="0"/>
              <a:t> </a:t>
            </a:r>
            <a:br>
              <a:rPr lang="en-GB" sz="2400" dirty="0"/>
            </a:br>
            <a:br>
              <a:rPr lang="en-GB" sz="2400" dirty="0"/>
            </a:br>
            <a:br>
              <a:rPr lang="en-GB" sz="2400" dirty="0"/>
            </a:br>
            <a:br>
              <a:rPr lang="en-GB" sz="2400" dirty="0"/>
            </a:br>
            <a:br>
              <a:rPr lang="en-GB" sz="2400" dirty="0"/>
            </a:br>
            <a:br>
              <a:rPr lang="en-GB" sz="2400" dirty="0"/>
            </a:br>
            <a:endParaRPr lang="en-GB" sz="2400" dirty="0"/>
          </a:p>
        </p:txBody>
      </p:sp>
      <p:sp>
        <p:nvSpPr>
          <p:cNvPr id="3" name="Subtitle 2">
            <a:extLst>
              <a:ext uri="{FF2B5EF4-FFF2-40B4-BE49-F238E27FC236}">
                <a16:creationId xmlns:a16="http://schemas.microsoft.com/office/drawing/2014/main" id="{06FBCF1F-DE8A-FF01-EE16-486C13131C60}"/>
              </a:ext>
            </a:extLst>
          </p:cNvPr>
          <p:cNvSpPr>
            <a:spLocks noGrp="1"/>
          </p:cNvSpPr>
          <p:nvPr>
            <p:ph type="subTitle" idx="1"/>
          </p:nvPr>
        </p:nvSpPr>
        <p:spPr>
          <a:xfrm>
            <a:off x="7324725" y="4050833"/>
            <a:ext cx="3695699" cy="1683217"/>
          </a:xfrm>
        </p:spPr>
        <p:txBody>
          <a:bodyPr>
            <a:noAutofit/>
          </a:bodyPr>
          <a:lstStyle/>
          <a:p>
            <a:pPr algn="l"/>
            <a:r>
              <a:rPr lang="en-GB" sz="2400" dirty="0">
                <a:solidFill>
                  <a:schemeClr val="bg2">
                    <a:lumMod val="50000"/>
                  </a:schemeClr>
                </a:solidFill>
              </a:rPr>
              <a:t>This plot shows the predicted energy per hour and the predicted energy after and before false positive </a:t>
            </a:r>
          </a:p>
        </p:txBody>
      </p:sp>
      <p:pic>
        <p:nvPicPr>
          <p:cNvPr id="5" name="Picture 4" descr="A graph with numbers and lines&#10;&#10;Description automatically generated">
            <a:extLst>
              <a:ext uri="{FF2B5EF4-FFF2-40B4-BE49-F238E27FC236}">
                <a16:creationId xmlns:a16="http://schemas.microsoft.com/office/drawing/2014/main" id="{A05E41E9-8155-6AF6-A75A-0643CCE55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52" y="2581275"/>
            <a:ext cx="6706874" cy="4276725"/>
          </a:xfrm>
          <a:prstGeom prst="rect">
            <a:avLst/>
          </a:prstGeom>
        </p:spPr>
      </p:pic>
    </p:spTree>
    <p:extLst>
      <p:ext uri="{BB962C8B-B14F-4D97-AF65-F5344CB8AC3E}">
        <p14:creationId xmlns:p14="http://schemas.microsoft.com/office/powerpoint/2010/main" val="2389968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78BE-212A-C258-9888-2A5BCEBD4D88}"/>
              </a:ext>
            </a:extLst>
          </p:cNvPr>
          <p:cNvSpPr>
            <a:spLocks noGrp="1"/>
          </p:cNvSpPr>
          <p:nvPr>
            <p:ph type="title"/>
          </p:nvPr>
        </p:nvSpPr>
        <p:spPr>
          <a:xfrm>
            <a:off x="677335" y="4238624"/>
            <a:ext cx="11181290" cy="3012568"/>
          </a:xfrm>
        </p:spPr>
        <p:txBody>
          <a:bodyPr>
            <a:normAutofit fontScale="90000"/>
          </a:bodyPr>
          <a:lstStyle/>
          <a:p>
            <a:r>
              <a:rPr lang="en-GB" sz="1800" dirty="0">
                <a:solidFill>
                  <a:schemeClr val="accent1">
                    <a:lumMod val="50000"/>
                  </a:schemeClr>
                </a:solidFill>
              </a:rPr>
              <a:t>In this plot which demonstrate the </a:t>
            </a:r>
            <a:r>
              <a:rPr lang="en-GB" sz="1800" dirty="0" err="1">
                <a:solidFill>
                  <a:schemeClr val="accent1">
                    <a:lumMod val="50000"/>
                  </a:schemeClr>
                </a:solidFill>
              </a:rPr>
              <a:t>mae</a:t>
            </a:r>
            <a:r>
              <a:rPr lang="en-GB" sz="1800" dirty="0">
                <a:solidFill>
                  <a:schemeClr val="accent1">
                    <a:lumMod val="50000"/>
                  </a:schemeClr>
                </a:solidFill>
              </a:rPr>
              <a:t> over time from 2022 to 2024, we can understand that from January to approximately middle of  march there is no enough surplus energy which correspond to low </a:t>
            </a:r>
            <a:r>
              <a:rPr lang="en-GB" sz="1800" dirty="0" err="1">
                <a:solidFill>
                  <a:schemeClr val="accent1">
                    <a:lumMod val="50000"/>
                  </a:schemeClr>
                </a:solidFill>
              </a:rPr>
              <a:t>mea</a:t>
            </a:r>
            <a:r>
              <a:rPr lang="en-GB" sz="1800" dirty="0">
                <a:solidFill>
                  <a:schemeClr val="accent1">
                    <a:lumMod val="50000"/>
                  </a:schemeClr>
                </a:solidFill>
              </a:rPr>
              <a:t> and from middle of march to approximately September there is a high amount of surplus energy which indicated by high </a:t>
            </a:r>
            <a:r>
              <a:rPr lang="en-GB" sz="1800" dirty="0" err="1">
                <a:solidFill>
                  <a:schemeClr val="accent1">
                    <a:lumMod val="50000"/>
                  </a:schemeClr>
                </a:solidFill>
              </a:rPr>
              <a:t>mea</a:t>
            </a:r>
            <a:r>
              <a:rPr lang="en-GB" sz="1800" dirty="0">
                <a:solidFill>
                  <a:schemeClr val="accent1">
                    <a:lumMod val="50000"/>
                  </a:schemeClr>
                </a:solidFill>
              </a:rPr>
              <a:t>. And that would be explained that usually in these months there is more </a:t>
            </a:r>
            <a:r>
              <a:rPr lang="en-GB" sz="1800" dirty="0" err="1">
                <a:solidFill>
                  <a:schemeClr val="accent1">
                    <a:lumMod val="50000"/>
                  </a:schemeClr>
                </a:solidFill>
              </a:rPr>
              <a:t>solarradation</a:t>
            </a:r>
            <a:r>
              <a:rPr lang="en-GB" sz="1800" dirty="0">
                <a:solidFill>
                  <a:schemeClr val="accent1">
                    <a:lumMod val="50000"/>
                  </a:schemeClr>
                </a:solidFill>
              </a:rPr>
              <a:t> and sun stay for longer hours.</a:t>
            </a:r>
            <a:br>
              <a:rPr lang="en-GB" sz="1800" dirty="0">
                <a:solidFill>
                  <a:schemeClr val="accent1">
                    <a:lumMod val="50000"/>
                  </a:schemeClr>
                </a:solidFill>
              </a:rPr>
            </a:br>
            <a:r>
              <a:rPr lang="en-GB" sz="1800" dirty="0">
                <a:solidFill>
                  <a:schemeClr val="accent1">
                    <a:lumMod val="50000"/>
                  </a:schemeClr>
                </a:solidFill>
              </a:rPr>
              <a:t>Therefore, I recommend implementing this plan based on all previous plots and calculation.</a:t>
            </a:r>
            <a:br>
              <a:rPr lang="en-GB" sz="1800" dirty="0">
                <a:solidFill>
                  <a:schemeClr val="accent1">
                    <a:lumMod val="50000"/>
                  </a:schemeClr>
                </a:solidFill>
              </a:rPr>
            </a:br>
            <a:r>
              <a:rPr lang="en-GB" sz="1800" dirty="0">
                <a:solidFill>
                  <a:schemeClr val="accent1">
                    <a:lumMod val="50000"/>
                  </a:schemeClr>
                </a:solidFill>
              </a:rPr>
              <a:t>I recommend implementing this plan from first April to the first of September taking in consideration the hour of the day as well as false positive . </a:t>
            </a:r>
            <a:br>
              <a:rPr lang="en-GB" sz="1800" dirty="0"/>
            </a:br>
            <a:br>
              <a:rPr lang="en-GB" sz="1800" dirty="0"/>
            </a:br>
            <a:br>
              <a:rPr lang="en-GB" sz="1800" dirty="0"/>
            </a:br>
            <a:br>
              <a:rPr lang="en-GB" sz="1800" dirty="0"/>
            </a:br>
            <a:endParaRPr lang="en-GB" sz="1800" dirty="0"/>
          </a:p>
        </p:txBody>
      </p:sp>
      <p:pic>
        <p:nvPicPr>
          <p:cNvPr id="5" name="Picture 4" descr="A graph with blue lines and red dots&#10;&#10;Description automatically generated">
            <a:extLst>
              <a:ext uri="{FF2B5EF4-FFF2-40B4-BE49-F238E27FC236}">
                <a16:creationId xmlns:a16="http://schemas.microsoft.com/office/drawing/2014/main" id="{F9C656FC-F2D1-8F56-9F3B-E83F225622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50" y="228601"/>
            <a:ext cx="11038415" cy="4133850"/>
          </a:xfrm>
          <a:prstGeom prst="rect">
            <a:avLst/>
          </a:prstGeom>
        </p:spPr>
      </p:pic>
    </p:spTree>
    <p:extLst>
      <p:ext uri="{BB962C8B-B14F-4D97-AF65-F5344CB8AC3E}">
        <p14:creationId xmlns:p14="http://schemas.microsoft.com/office/powerpoint/2010/main" val="2748928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F5633-3D4A-1852-63E4-E2C29F9A3729}"/>
              </a:ext>
            </a:extLst>
          </p:cNvPr>
          <p:cNvSpPr>
            <a:spLocks noGrp="1"/>
          </p:cNvSpPr>
          <p:nvPr>
            <p:ph type="title"/>
          </p:nvPr>
        </p:nvSpPr>
        <p:spPr/>
        <p:txBody>
          <a:bodyPr>
            <a:noAutofit/>
          </a:bodyPr>
          <a:lstStyle/>
          <a:p>
            <a:r>
              <a:rPr lang="en-GB" dirty="0"/>
              <a:t>References</a:t>
            </a:r>
            <a:br>
              <a:rPr lang="en-GB" sz="1800" dirty="0"/>
            </a:br>
            <a:br>
              <a:rPr lang="en-GB" sz="1800" dirty="0"/>
            </a:br>
            <a:r>
              <a:rPr lang="en-GB" sz="1800" dirty="0"/>
              <a:t> </a:t>
            </a:r>
            <a:br>
              <a:rPr lang="en-GB" sz="1800" dirty="0"/>
            </a:br>
            <a:r>
              <a:rPr lang="en-GB" sz="1800" b="0" dirty="0">
                <a:solidFill>
                  <a:srgbClr val="CCCCCC"/>
                </a:solidFill>
                <a:effectLst/>
                <a:highlight>
                  <a:srgbClr val="1F1F1F"/>
                </a:highlight>
                <a:latin typeface="Consolas" panose="020B0609020204030204" pitchFamily="49" charset="0"/>
              </a:rPr>
              <a:t>[</a:t>
            </a:r>
            <a:r>
              <a:rPr lang="en-GB" sz="1800" b="0" dirty="0">
                <a:solidFill>
                  <a:srgbClr val="CE9178"/>
                </a:solidFill>
                <a:effectLst/>
                <a:highlight>
                  <a:srgbClr val="1F1F1F"/>
                </a:highlight>
                <a:latin typeface="Consolas" panose="020B0609020204030204" pitchFamily="49" charset="0"/>
              </a:rPr>
              <a:t>Wind Resource and Wind Power Generation Assessment for Education in Engineering</a:t>
            </a:r>
            <a:r>
              <a:rPr lang="en-GB" sz="1800" b="0" dirty="0">
                <a:solidFill>
                  <a:srgbClr val="CCCCCC"/>
                </a:solidFill>
                <a:effectLst/>
                <a:highlight>
                  <a:srgbClr val="1F1F1F"/>
                </a:highlight>
                <a:latin typeface="Consolas" panose="020B0609020204030204" pitchFamily="49" charset="0"/>
              </a:rPr>
              <a:t>](</a:t>
            </a:r>
            <a:r>
              <a:rPr lang="en-GB" sz="1800" b="0" u="sng" dirty="0">
                <a:solidFill>
                  <a:srgbClr val="CCCCCC"/>
                </a:solidFill>
                <a:effectLst/>
                <a:highlight>
                  <a:srgbClr val="1F1F1F"/>
                </a:highlight>
                <a:latin typeface="Consolas" panose="020B0609020204030204" pitchFamily="49" charset="0"/>
              </a:rPr>
              <a:t>https://www.mdpi.com/2071-1050/13/5/2444</a:t>
            </a:r>
            <a:r>
              <a:rPr lang="en-GB" sz="1800" b="0" dirty="0">
                <a:solidFill>
                  <a:srgbClr val="CCCCCC"/>
                </a:solidFill>
                <a:effectLst/>
                <a:highlight>
                  <a:srgbClr val="1F1F1F"/>
                </a:highlight>
                <a:latin typeface="Consolas" panose="020B0609020204030204" pitchFamily="49" charset="0"/>
              </a:rPr>
              <a:t>)</a:t>
            </a:r>
            <a:br>
              <a:rPr lang="en-GB" sz="1800" b="0" dirty="0">
                <a:solidFill>
                  <a:srgbClr val="CCCCCC"/>
                </a:solidFill>
                <a:effectLst/>
                <a:highlight>
                  <a:srgbClr val="1F1F1F"/>
                </a:highlight>
                <a:latin typeface="Consolas" panose="020B0609020204030204" pitchFamily="49" charset="0"/>
              </a:rPr>
            </a:br>
            <a:br>
              <a:rPr lang="en-GB" sz="1800" b="0" dirty="0">
                <a:solidFill>
                  <a:srgbClr val="CCCCCC"/>
                </a:solidFill>
                <a:effectLst/>
                <a:highlight>
                  <a:srgbClr val="1F1F1F"/>
                </a:highlight>
                <a:latin typeface="Consolas" panose="020B0609020204030204" pitchFamily="49" charset="0"/>
              </a:rPr>
            </a:br>
            <a:br>
              <a:rPr lang="en-GB" sz="1800" b="0" dirty="0">
                <a:solidFill>
                  <a:srgbClr val="CCCCCC"/>
                </a:solidFill>
                <a:effectLst/>
                <a:highlight>
                  <a:srgbClr val="1F1F1F"/>
                </a:highlight>
                <a:latin typeface="Consolas" panose="020B0609020204030204" pitchFamily="49" charset="0"/>
              </a:rPr>
            </a:br>
            <a:r>
              <a:rPr lang="en-GB" sz="1800" b="0" dirty="0">
                <a:solidFill>
                  <a:srgbClr val="CCCCCC"/>
                </a:solidFill>
                <a:effectLst/>
                <a:highlight>
                  <a:srgbClr val="1F1F1F"/>
                </a:highlight>
                <a:latin typeface="Consolas" panose="020B0609020204030204" pitchFamily="49" charset="0"/>
              </a:rPr>
              <a:t>[</a:t>
            </a:r>
            <a:r>
              <a:rPr lang="en-GB" sz="1800" b="0" dirty="0">
                <a:solidFill>
                  <a:srgbClr val="CE9178"/>
                </a:solidFill>
                <a:effectLst/>
                <a:highlight>
                  <a:srgbClr val="1F1F1F"/>
                </a:highlight>
                <a:latin typeface="Consolas" panose="020B0609020204030204" pitchFamily="49" charset="0"/>
              </a:rPr>
              <a:t>Calculation of electrical energy with solar power plant design</a:t>
            </a:r>
            <a:r>
              <a:rPr lang="en-GB" sz="1800" b="0" dirty="0">
                <a:solidFill>
                  <a:srgbClr val="CCCCCC"/>
                </a:solidFill>
                <a:effectLst/>
                <a:highlight>
                  <a:srgbClr val="1F1F1F"/>
                </a:highlight>
                <a:latin typeface="Consolas" panose="020B0609020204030204" pitchFamily="49" charset="0"/>
              </a:rPr>
              <a:t>](</a:t>
            </a:r>
            <a:r>
              <a:rPr lang="en-GB" sz="1800" b="0" u="sng" dirty="0">
                <a:solidFill>
                  <a:srgbClr val="CCCCCC"/>
                </a:solidFill>
                <a:effectLst/>
                <a:highlight>
                  <a:srgbClr val="1F1F1F"/>
                </a:highlight>
                <a:latin typeface="Consolas" panose="020B0609020204030204" pitchFamily="49" charset="0"/>
              </a:rPr>
              <a:t>https://ieeexplore.ieee.org/abstract/document/7828701</a:t>
            </a:r>
            <a:r>
              <a:rPr lang="en-GB" sz="1800" b="0" dirty="0">
                <a:solidFill>
                  <a:srgbClr val="CCCCCC"/>
                </a:solidFill>
                <a:effectLst/>
                <a:highlight>
                  <a:srgbClr val="1F1F1F"/>
                </a:highlight>
                <a:latin typeface="Consolas" panose="020B0609020204030204" pitchFamily="49" charset="0"/>
              </a:rPr>
              <a:t>)</a:t>
            </a:r>
            <a:br>
              <a:rPr lang="en-GB" sz="1800" b="0" dirty="0">
                <a:solidFill>
                  <a:srgbClr val="CCCCCC"/>
                </a:solidFill>
                <a:effectLst/>
                <a:highlight>
                  <a:srgbClr val="1F1F1F"/>
                </a:highlight>
                <a:latin typeface="Consolas" panose="020B0609020204030204" pitchFamily="49" charset="0"/>
              </a:rPr>
            </a:br>
            <a:br>
              <a:rPr lang="en-GB" sz="1800" b="0" dirty="0">
                <a:solidFill>
                  <a:srgbClr val="CCCCCC"/>
                </a:solidFill>
                <a:effectLst/>
                <a:highlight>
                  <a:srgbClr val="1F1F1F"/>
                </a:highlight>
                <a:latin typeface="Consolas" panose="020B0609020204030204" pitchFamily="49" charset="0"/>
              </a:rPr>
            </a:br>
            <a:br>
              <a:rPr lang="en-GB" sz="1800" b="0" dirty="0">
                <a:solidFill>
                  <a:srgbClr val="CCCCCC"/>
                </a:solidFill>
                <a:effectLst/>
                <a:highlight>
                  <a:srgbClr val="1F1F1F"/>
                </a:highlight>
                <a:latin typeface="Consolas" panose="020B0609020204030204" pitchFamily="49" charset="0"/>
              </a:rPr>
            </a:br>
            <a:r>
              <a:rPr lang="en-GB" sz="1800" b="0" dirty="0">
                <a:solidFill>
                  <a:srgbClr val="CCCCCC"/>
                </a:solidFill>
                <a:effectLst/>
                <a:highlight>
                  <a:srgbClr val="1F1F1F"/>
                </a:highlight>
                <a:latin typeface="Consolas" panose="020B0609020204030204" pitchFamily="49" charset="0"/>
              </a:rPr>
              <a:t>[</a:t>
            </a:r>
            <a:r>
              <a:rPr lang="en-GB" sz="1800" b="0" dirty="0">
                <a:solidFill>
                  <a:srgbClr val="CE9178"/>
                </a:solidFill>
                <a:effectLst/>
                <a:highlight>
                  <a:srgbClr val="1F1F1F"/>
                </a:highlight>
                <a:latin typeface="Consolas" panose="020B0609020204030204" pitchFamily="49" charset="0"/>
              </a:rPr>
              <a:t>Efficiency improvement for solar cells panels by cooling</a:t>
            </a:r>
            <a:r>
              <a:rPr lang="en-GB" sz="1800" b="0" dirty="0">
                <a:solidFill>
                  <a:srgbClr val="CCCCCC"/>
                </a:solidFill>
                <a:effectLst/>
                <a:highlight>
                  <a:srgbClr val="1F1F1F"/>
                </a:highlight>
                <a:latin typeface="Consolas" panose="020B0609020204030204" pitchFamily="49" charset="0"/>
              </a:rPr>
              <a:t>](</a:t>
            </a:r>
            <a:r>
              <a:rPr lang="en-GB" sz="1800" b="0" u="sng" dirty="0">
                <a:solidFill>
                  <a:srgbClr val="CCCCCC"/>
                </a:solidFill>
                <a:effectLst/>
                <a:highlight>
                  <a:srgbClr val="1F1F1F"/>
                </a:highlight>
                <a:latin typeface="Consolas" panose="020B0609020204030204" pitchFamily="49" charset="0"/>
              </a:rPr>
              <a:t>https://ieeexplore.ieee.org/abstract/document/8724625</a:t>
            </a:r>
            <a:r>
              <a:rPr lang="en-GB" sz="1800" b="0" dirty="0">
                <a:solidFill>
                  <a:srgbClr val="CCCCCC"/>
                </a:solidFill>
                <a:effectLst/>
                <a:highlight>
                  <a:srgbClr val="1F1F1F"/>
                </a:highlight>
                <a:latin typeface="Consolas" panose="020B0609020204030204" pitchFamily="49" charset="0"/>
              </a:rPr>
              <a:t>)</a:t>
            </a:r>
            <a:br>
              <a:rPr lang="en-GB" sz="1800" b="0" dirty="0">
                <a:solidFill>
                  <a:srgbClr val="CCCCCC"/>
                </a:solidFill>
                <a:effectLst/>
                <a:highlight>
                  <a:srgbClr val="1F1F1F"/>
                </a:highlight>
                <a:latin typeface="Consolas" panose="020B0609020204030204" pitchFamily="49" charset="0"/>
              </a:rPr>
            </a:br>
            <a:br>
              <a:rPr lang="en-GB" sz="1800" b="0" dirty="0">
                <a:solidFill>
                  <a:srgbClr val="CCCCCC"/>
                </a:solidFill>
                <a:effectLst/>
                <a:highlight>
                  <a:srgbClr val="1F1F1F"/>
                </a:highlight>
                <a:latin typeface="Consolas" panose="020B0609020204030204" pitchFamily="49" charset="0"/>
              </a:rPr>
            </a:br>
            <a:br>
              <a:rPr lang="en-GB" sz="1800" b="0" dirty="0">
                <a:solidFill>
                  <a:srgbClr val="CCCCCC"/>
                </a:solidFill>
                <a:effectLst/>
                <a:highlight>
                  <a:srgbClr val="1F1F1F"/>
                </a:highlight>
                <a:latin typeface="Consolas" panose="020B0609020204030204" pitchFamily="49" charset="0"/>
              </a:rPr>
            </a:br>
            <a:r>
              <a:rPr lang="en-GB" sz="1050" b="0" dirty="0">
                <a:solidFill>
                  <a:srgbClr val="CCCCCC"/>
                </a:solidFill>
                <a:effectLst/>
                <a:highlight>
                  <a:srgbClr val="1F1F1F"/>
                </a:highlight>
                <a:latin typeface="Consolas" panose="020B0609020204030204" pitchFamily="49" charset="0"/>
              </a:rPr>
              <a:t>[</a:t>
            </a:r>
            <a:r>
              <a:rPr lang="en-GB" sz="1800" b="0" dirty="0">
                <a:solidFill>
                  <a:srgbClr val="CE9178"/>
                </a:solidFill>
                <a:effectLst/>
                <a:highlight>
                  <a:srgbClr val="1F1F1F"/>
                </a:highlight>
                <a:latin typeface="Consolas" panose="020B0609020204030204" pitchFamily="49" charset="0"/>
              </a:rPr>
              <a:t>Energy</a:t>
            </a:r>
            <a:r>
              <a:rPr lang="en-GB" sz="1050" b="0" dirty="0">
                <a:solidFill>
                  <a:srgbClr val="CE9178"/>
                </a:solidFill>
                <a:effectLst/>
                <a:highlight>
                  <a:srgbClr val="1F1F1F"/>
                </a:highlight>
                <a:latin typeface="Consolas" panose="020B0609020204030204" pitchFamily="49" charset="0"/>
              </a:rPr>
              <a:t> </a:t>
            </a:r>
            <a:r>
              <a:rPr lang="en-GB" sz="1800" b="0" dirty="0">
                <a:solidFill>
                  <a:srgbClr val="CE9178"/>
                </a:solidFill>
                <a:effectLst/>
                <a:highlight>
                  <a:srgbClr val="1F1F1F"/>
                </a:highlight>
                <a:latin typeface="Consolas" panose="020B0609020204030204" pitchFamily="49" charset="0"/>
              </a:rPr>
              <a:t>consumption in UK households: Impact of domestic electrical appliances</a:t>
            </a:r>
            <a:r>
              <a:rPr lang="en-GB" sz="1800" b="0" dirty="0">
                <a:solidFill>
                  <a:srgbClr val="CCCCCC"/>
                </a:solidFill>
                <a:effectLst/>
                <a:highlight>
                  <a:srgbClr val="1F1F1F"/>
                </a:highlight>
                <a:latin typeface="Consolas" panose="020B0609020204030204" pitchFamily="49" charset="0"/>
              </a:rPr>
              <a:t>](</a:t>
            </a:r>
            <a:r>
              <a:rPr lang="en-GB" sz="1800" b="0" u="sng" dirty="0">
                <a:solidFill>
                  <a:srgbClr val="CCCCCC"/>
                </a:solidFill>
                <a:effectLst/>
                <a:highlight>
                  <a:srgbClr val="1F1F1F"/>
                </a:highlight>
                <a:latin typeface="Consolas" panose="020B0609020204030204" pitchFamily="49" charset="0"/>
              </a:rPr>
              <a:t>https://www.sciencedirect.com/science/article/pii/0306261996000013</a:t>
            </a:r>
            <a:r>
              <a:rPr lang="en-GB" sz="1050" b="0" dirty="0">
                <a:solidFill>
                  <a:srgbClr val="CCCCCC"/>
                </a:solidFill>
                <a:effectLst/>
                <a:highlight>
                  <a:srgbClr val="1F1F1F"/>
                </a:highlight>
                <a:latin typeface="Consolas" panose="020B0609020204030204" pitchFamily="49" charset="0"/>
              </a:rPr>
              <a:t>)</a:t>
            </a:r>
            <a:br>
              <a:rPr lang="en-GB" sz="1050" b="0" dirty="0">
                <a:solidFill>
                  <a:srgbClr val="CCCCCC"/>
                </a:solidFill>
                <a:effectLst/>
                <a:highlight>
                  <a:srgbClr val="1F1F1F"/>
                </a:highlight>
                <a:latin typeface="Consolas" panose="020B0609020204030204" pitchFamily="49" charset="0"/>
              </a:rPr>
            </a:br>
            <a:br>
              <a:rPr lang="en-GB" sz="1800" b="0" dirty="0">
                <a:solidFill>
                  <a:srgbClr val="CCCCCC"/>
                </a:solidFill>
                <a:effectLst/>
                <a:highlight>
                  <a:srgbClr val="1F1F1F"/>
                </a:highlight>
                <a:latin typeface="Consolas" panose="020B0609020204030204" pitchFamily="49" charset="0"/>
              </a:rPr>
            </a:br>
            <a:br>
              <a:rPr lang="en-GB" sz="1800" dirty="0"/>
            </a:br>
            <a:endParaRPr lang="en-GB" sz="1800" dirty="0"/>
          </a:p>
        </p:txBody>
      </p:sp>
    </p:spTree>
    <p:extLst>
      <p:ext uri="{BB962C8B-B14F-4D97-AF65-F5344CB8AC3E}">
        <p14:creationId xmlns:p14="http://schemas.microsoft.com/office/powerpoint/2010/main" val="18767152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703</TotalTime>
  <Words>1639</Words>
  <Application>Microsoft Office PowerPoint</Application>
  <PresentationFormat>Widescreen</PresentationFormat>
  <Paragraphs>74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Consolas</vt:lpstr>
      <vt:lpstr>Trebuchet MS</vt:lpstr>
      <vt:lpstr>Wingdings 3</vt:lpstr>
      <vt:lpstr>Facet</vt:lpstr>
      <vt:lpstr>CE888-7-SP Data Science and Decision Making project</vt:lpstr>
      <vt:lpstr>The project is about giving local people access to free energy when there will be surplus in energy ( either wind or solar energy)  </vt:lpstr>
      <vt:lpstr>What is the aim of the project? The aim of this project is to predict 24 hours in advance if there will be surplus energy. Why? To  send out an alert to the customers in the area to allow them to opt-in to the slot. </vt:lpstr>
      <vt:lpstr>             Assumptions for calculating the threshold ‘above this threshold we can offer free energy because we will have surplus of energy’: 1-number of houses = 500 house 2-energy per hour per hour  = 0.5  3-the changes of people behaviour = 3 times  threshold =  maltiplying the three component above assuming that the annualy consumption of electricity per house per family is 0.5 kwh      </vt:lpstr>
      <vt:lpstr>Methods: 1-the input: the historic data I choose to work on ‘solarradation column’.  2-The out put: the amount of surplus energy available in the next 24 hour, ‘Every hour’. 3-modelling: baseline                     machine learning ‘huber()’ .</vt:lpstr>
      <vt:lpstr>Result : the threshold = 500* 0.5* 3 = 750 kwh/m2 ‘if the energy generated is less than that we cannot offer local people free energy otherwise if the company will offer under the threshold that will cost the company money’.       </vt:lpstr>
      <vt:lpstr>PowerPoint Presentation</vt:lpstr>
      <vt:lpstr>Hourly Predicted energy </vt:lpstr>
      <vt:lpstr>                                                                                                                                                                                                So, to sum up what I have demonstrate in the previous slides before considering the false positive I decide that there is seven hours had surplus energy and the company can apply this plan. However, after taking false positive in consideration I decided that there is just 3 hours of surplus energy the company can offer free energy in this specific hours. I will illustrate the plot           </vt:lpstr>
      <vt:lpstr>In this plot which demonstrate the mae over time from 2022 to 2024, we can understand that from January to approximately middle of  march there is no enough surplus energy which correspond to low mea and from middle of march to approximately September there is a high amount of surplus energy which indicated by high mea. And that would be explained that usually in these months there is more solarradation and sun stay for longer hours. Therefore, I recommend implementing this plan based on all previous plots and calculation. I recommend implementing this plan from first April to the first of September taking in consideration the hour of the day as well as false positive .     </vt:lpstr>
      <vt:lpstr>References    [Wind Resource and Wind Power Generation Assessment for Education in Engineering](https://www.mdpi.com/2071-1050/13/5/2444)   [Calculation of electrical energy with solar power plant design](https://ieeexplore.ieee.org/abstract/document/7828701)   [Efficiency improvement for solar cells panels by cooling](https://ieeexplore.ieee.org/abstract/document/8724625)   [Energy consumption in UK households: Impact of domestic electrical appliances](https://www.sciencedirect.com/science/article/pii/0306261996000013)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CE888-7-SP Data Science and Decision Making</dc:title>
  <dc:creator>Dast Mozd, Zeinab</dc:creator>
  <cp:lastModifiedBy>Dast Mozd, Zeinab</cp:lastModifiedBy>
  <cp:revision>13</cp:revision>
  <dcterms:created xsi:type="dcterms:W3CDTF">2024-04-20T15:02:10Z</dcterms:created>
  <dcterms:modified xsi:type="dcterms:W3CDTF">2024-04-21T20:24:51Z</dcterms:modified>
</cp:coreProperties>
</file>